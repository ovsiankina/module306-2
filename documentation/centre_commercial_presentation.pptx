
<file path=[Content_Types].xml><?xml version="1.0" encoding="utf-8"?>
<Types xmlns="http://schemas.openxmlformats.org/package/2006/content-types">
  <Default Extension="xml" ContentType="application/xml"/>
  <Default Extension="xlsx" ContentType="application/vnd.openxmlformats-officedocument.spreadsheetml.sheet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5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14.xml" ContentType="application/vnd.openxmlformats-officedocument.presentationml.slide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slides/slide13.xml" ContentType="application/vnd.openxmlformats-officedocument.presentationml.slide+xml"/>
  <Override PartName="/ppt/slides/slide6.xml" ContentType="application/vnd.openxmlformats-officedocument.presentationml.slide+xml"/>
  <Override PartName="/ppt/slides/slide11.xml" ContentType="application/vnd.openxmlformats-officedocument.presentationml.slide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Layouts/slideLayout1.xml" ContentType="application/vnd.openxmlformats-officedocument.presentationml.slideLayout+xml"/>
  <Override PartName="/ppt/slides/slide5.xml" ContentType="application/vnd.openxmlformats-officedocument.presentationml.slide+xml"/>
  <Override PartName="/ppt/notesSlides/notesSlide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8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18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9144000" cy="5143500"/>
  <p:notesSz cx="5143500" cy="9144000"/>
  <p:defaultTextStyle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>
        <p:guide pos="2880"/>
        <p:guide pos="162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 /><Relationship Id="rId20" Type="http://schemas.openxmlformats.org/officeDocument/2006/relationships/tableStyles" Target="tableStyles.xml" /><Relationship Id="rId21" Type="http://schemas.openxmlformats.org/officeDocument/2006/relationships/viewProps" Target="viewProps.xml" 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 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mc="http://schemas.openxmlformats.org/markup-compatibility/2006" xmlns:c15="http://schemas.microsoft.com/office/drawing/2012/chart" xmlns:c14="http://schemas.microsoft.com/office/drawing/2007/8/2/chart" xmlns:c16r2="http://schemas.microsoft.com/office/drawing/2015/06/chart">
  <c:date1904 val="0"/>
  <c:roundedCorners val="1"/>
  <mc:AlternateContent>
    <mc:Choice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Visiteurs</c:v>
                </c:pt>
              </c:strCache>
            </c:strRef>
          </c:tx>
          <c:spPr bwMode="auto">
            <a:prstGeom prst="rect">
              <a:avLst/>
            </a:prstGeom>
            <a:solidFill>
              <a:srgbClr val="F5A623"/>
            </a:solidFill>
            <a:effectLst/>
          </c:spPr>
          <c:invertIfNegative val="0"/>
          <c:dLbls>
            <c:numFmt formatCode="#,##0" sourceLinked="0"/>
            <c:showBubbleSize val="0"/>
            <c:showCatName val="0"/>
            <c:showLeaderLines val="0"/>
            <c:showLegendKey val="0"/>
            <c:showPercent val="0"/>
            <c:showSerName val="0"/>
            <c:showVal val="0"/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/>
              </a:p>
            </c:txPr>
          </c:dLbls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Fév</c:v>
                  </c:pt>
                  <c:pt idx="2">
                    <c:v>Mar</c:v>
                  </c:pt>
                  <c:pt idx="3">
                    <c:v>Avr</c:v>
                  </c:pt>
                  <c:pt idx="4">
                    <c:v>Mai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Aoû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Déc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28000</c:v>
                </c:pt>
                <c:pt idx="1">
                  <c:v>30200</c:v>
                </c:pt>
                <c:pt idx="2">
                  <c:v>34800</c:v>
                </c:pt>
                <c:pt idx="3">
                  <c:v>32100</c:v>
                </c:pt>
                <c:pt idx="4">
                  <c:v>29700</c:v>
                </c:pt>
                <c:pt idx="5">
                  <c:v>31500</c:v>
                </c:pt>
                <c:pt idx="6">
                  <c:v>38200</c:v>
                </c:pt>
                <c:pt idx="7">
                  <c:v>35600</c:v>
                </c:pt>
                <c:pt idx="8">
                  <c:v>33100</c:v>
                </c:pt>
                <c:pt idx="9">
                  <c:v>36800</c:v>
                </c:pt>
                <c:pt idx="10">
                  <c:v>40200</c:v>
                </c:pt>
                <c:pt idx="11">
                  <c:v>43500</c:v>
                </c:pt>
              </c:numCache>
            </c:numRef>
          </c:val>
        </c:ser>
        <c:dLbls>
          <c:numFmt formatCode="#,##0" sourceLinked="0"/>
          <c:showBubbleSize val="0"/>
          <c:showCatName val="0"/>
          <c:showLeaderLines val="0"/>
          <c:showLegendKey val="0"/>
          <c:showPercent val="0"/>
          <c:showSerName val="0"/>
          <c:showVal val="0"/>
          <c:txPr>
            <a:bodyPr/>
            <a:lstStyle/>
            <a:p>
              <a:pPr>
                <a:defRPr sz="1200" b="0" i="0" u="none" strike="noStrike">
                  <a:solidFill>
                    <a:srgbClr val="000000"/>
                  </a:solidFill>
                  <a:latin typeface="Arial"/>
                </a:defRPr>
              </a:pPr>
              <a:endParaRPr/>
            </a:p>
          </c:txPr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 bwMode="auto">
          <a:prstGeom prst="rect">
            <a:avLst/>
          </a:prstGeom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1809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 bwMode="auto">
            <a:prstGeom prst="rect">
              <a:avLst/>
            </a:prstGeom>
            <a:ln w="6350" cap="flat">
              <a:solidFill>
                <a:srgbClr val="E8EBF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 bwMode="auto">
          <a:prstGeom prst="rect">
            <a:avLst/>
          </a:prstGeom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1809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 bwMode="auto">
        <a:prstGeom prst="rect">
          <a:avLst/>
        </a:prstGeom>
        <a:noFill/>
        <a:ln>
          <a:noFill/>
        </a:ln>
        <a:effectLst/>
      </c:spPr>
    </c:plotArea>
    <c:plotVisOnly val="1"/>
    <c:dispBlanksAs val="span"/>
    <c:showDLblsOverMax val="0"/>
  </c:chart>
  <c:spPr bwMode="auto">
    <a:xfrm rot="0">
      <a:off x="274320" y="3200400"/>
      <a:ext cx="8595360" cy="1737360"/>
    </a:xfrm>
    <a:prstGeom prst="rect">
      <a:avLst/>
    </a:prstGeom>
    <a:solidFill>
      <a:srgbClr val="F8F9FC"/>
    </a:solidFill>
    <a:ln>
      <a:noFill/>
    </a:ln>
    <a:effectLst/>
  </c:spPr>
  <c:externalData r:id="rId1">
    <c:autoUpdate val="1"/>
  </c:externalData>
</c:chartSpace>
</file>

<file path=ppt/embeddings/_rels/Microsoft_Excel_Worksheet1.xlsx.rels><?xml version="1.0" encoding="UTF-8" standalone="yes"?><Relationships xmlns="http://schemas.openxmlformats.org/package/2006/relationships"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5247229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28083483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1221193214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872660270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463953120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05724639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22148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669910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713481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276567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306755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865080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55068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67305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317803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49554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476963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268366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65550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28958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239614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73865DD-8B7E-2354-4715-D578D535CD1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480231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516957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669603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EF71973-59C4-79F1-D796-24D5BB208AB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06769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351957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307826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14111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316442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801692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6458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964689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973755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566948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6883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041755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8150FD2-D6A0-5F40-6979-D854E90ED96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70491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564432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353789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18688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480487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589846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600649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702675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165567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764987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312359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990911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20129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161742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197109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dt="0" ftr="0" hdr="0" sldNum="0"/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Relationship Id="rId4" Type="http://schemas.openxmlformats.org/officeDocument/2006/relationships/chart" Target="../charts/chart1.xml" 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Relationship Id="rId9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">
    <p:bg>
      <p:bgPr shadeToTitle="0">
        <a:solidFill>
          <a:srgbClr val="1A2B5E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6611256" name="Shape 0"/>
          <p:cNvSpPr/>
          <p:nvPr/>
        </p:nvSpPr>
        <p:spPr bwMode="auto">
          <a:xfrm>
            <a:off x="0" y="4114800"/>
            <a:ext cx="9144000" cy="10287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9887834" name="Shape 1"/>
          <p:cNvSpPr/>
          <p:nvPr/>
        </p:nvSpPr>
        <p:spPr bwMode="auto">
          <a:xfrm>
            <a:off x="5943600" y="0"/>
            <a:ext cx="457200" cy="5143500"/>
          </a:xfrm>
          <a:prstGeom prst="rect">
            <a:avLst/>
          </a:prstGeom>
          <a:solidFill>
            <a:srgbClr val="243572"/>
          </a:solidFill>
          <a:ln w="12700">
            <a:solidFill>
              <a:srgbClr val="243572"/>
            </a:solidFill>
            <a:prstDash val="solid"/>
          </a:ln>
        </p:spPr>
      </p:sp>
      <p:sp>
        <p:nvSpPr>
          <p:cNvPr id="1504538935" name="Text 2"/>
          <p:cNvSpPr/>
          <p:nvPr/>
        </p:nvSpPr>
        <p:spPr bwMode="auto">
          <a:xfrm>
            <a:off x="548640" y="7315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 spc="600">
                <a:solidFill>
                  <a:srgbClr val="F5A623"/>
                </a:solidFill>
                <a:latin typeface="Calibri"/>
                <a:ea typeface="Calibri"/>
                <a:cs typeface="Calibri"/>
              </a:rPr>
              <a:t>CENTRE COMMERCIAL</a:t>
            </a:r>
            <a:endParaRPr lang="en-US" sz="1400"/>
          </a:p>
        </p:txBody>
      </p:sp>
      <p:sp>
        <p:nvSpPr>
          <p:cNvPr id="2034244431" name="Text 3"/>
          <p:cNvSpPr/>
          <p:nvPr/>
        </p:nvSpPr>
        <p:spPr bwMode="auto">
          <a:xfrm>
            <a:off x="548640" y="1325880"/>
            <a:ext cx="5029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  <a:defRPr/>
            </a:pPr>
            <a:r>
              <a:rPr lang="en-US" sz="40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Présentation du</a:t>
            </a:r>
            <a:endParaRPr lang="en-US" sz="4000"/>
          </a:p>
          <a:p>
            <a:pPr marL="0" indent="0">
              <a:lnSpc>
                <a:spcPct val="110000"/>
              </a:lnSpc>
              <a:buNone/>
              <a:defRPr/>
            </a:pPr>
            <a:r>
              <a:rPr lang="en-US" sz="40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Site Web</a:t>
            </a:r>
            <a:endParaRPr lang="en-US" sz="4000"/>
          </a:p>
        </p:txBody>
      </p:sp>
      <p:sp>
        <p:nvSpPr>
          <p:cNvPr id="1704215591" name="Text 4"/>
          <p:cNvSpPr/>
          <p:nvPr/>
        </p:nvSpPr>
        <p:spPr bwMode="auto">
          <a:xfrm>
            <a:off x="548640" y="30632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i="1">
                <a:solidFill>
                  <a:srgbClr val="E8EBF4"/>
                </a:solidFill>
                <a:latin typeface="Calibri"/>
                <a:ea typeface="Calibri"/>
                <a:cs typeface="Calibri"/>
              </a:rPr>
              <a:t>Fonctionnalités · Architecture · Guide d'utilisation</a:t>
            </a:r>
            <a:endParaRPr lang="en-US" sz="1300"/>
          </a:p>
        </p:txBody>
      </p:sp>
      <p:sp>
        <p:nvSpPr>
          <p:cNvPr id="943454278" name="Text 5"/>
          <p:cNvSpPr/>
          <p:nvPr/>
        </p:nvSpPr>
        <p:spPr bwMode="auto">
          <a:xfrm>
            <a:off x="548640" y="420624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A2B5E"/>
                </a:solidFill>
                <a:latin typeface="Calibri"/>
                <a:ea typeface="Calibri"/>
                <a:cs typeface="Calibri"/>
              </a:rPr>
              <a:t>Réalisé pour notre client</a:t>
            </a:r>
            <a:endParaRPr lang="en-US" sz="1200"/>
          </a:p>
          <a:p>
            <a:pPr marL="0" indent="0">
              <a:buNone/>
              <a:defRPr/>
            </a:pPr>
            <a:r>
              <a:rPr lang="en-US" sz="1200" b="1">
                <a:solidFill>
                  <a:srgbClr val="1A2B5E"/>
                </a:solidFill>
                <a:latin typeface="Calibri"/>
                <a:ea typeface="Calibri"/>
                <a:cs typeface="Calibri"/>
              </a:rPr>
              <a:t>2025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">
    <p:bg>
      <p:bgPr shadeToTitle="0">
        <a:solidFill>
          <a:srgbClr val="F8F9F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6370789" name="Shape 0"/>
          <p:cNvSpPr/>
          <p:nvPr/>
        </p:nvSpPr>
        <p:spPr bwMode="auto">
          <a:xfrm>
            <a:off x="0" y="0"/>
            <a:ext cx="9144000" cy="100584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1630156061" name="Text 1"/>
          <p:cNvSpPr/>
          <p:nvPr/>
        </p:nvSpPr>
        <p:spPr bwMode="auto"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SOMMAIRE</a:t>
            </a:r>
            <a:endParaRPr lang="en-US" sz="2200"/>
          </a:p>
        </p:txBody>
      </p:sp>
      <p:sp>
        <p:nvSpPr>
          <p:cNvPr id="1573940563" name="Shape 2"/>
          <p:cNvSpPr/>
          <p:nvPr/>
        </p:nvSpPr>
        <p:spPr bwMode="auto">
          <a:xfrm>
            <a:off x="365760" y="1143000"/>
            <a:ext cx="502920" cy="5029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10055719" name="Text 3"/>
          <p:cNvSpPr/>
          <p:nvPr/>
        </p:nvSpPr>
        <p:spPr bwMode="auto">
          <a:xfrm>
            <a:off x="365760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1A2B5E"/>
                </a:solidFill>
              </a:rPr>
              <a:t>01</a:t>
            </a:r>
            <a:endParaRPr lang="en-US" sz="1200"/>
          </a:p>
        </p:txBody>
      </p:sp>
      <p:sp>
        <p:nvSpPr>
          <p:cNvPr id="247791357" name="Text 4"/>
          <p:cNvSpPr/>
          <p:nvPr/>
        </p:nvSpPr>
        <p:spPr bwMode="auto">
          <a:xfrm>
            <a:off x="960120" y="1179576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2D3748"/>
                </a:solidFill>
                <a:latin typeface="Calibri"/>
                <a:ea typeface="Calibri"/>
                <a:cs typeface="Calibri"/>
              </a:rPr>
              <a:t>Vue d'ensemble du projet</a:t>
            </a:r>
            <a:endParaRPr lang="en-US" sz="1300"/>
          </a:p>
        </p:txBody>
      </p:sp>
      <p:sp>
        <p:nvSpPr>
          <p:cNvPr id="845975154" name="Shape 5"/>
          <p:cNvSpPr/>
          <p:nvPr/>
        </p:nvSpPr>
        <p:spPr bwMode="auto">
          <a:xfrm>
            <a:off x="365760" y="1828800"/>
            <a:ext cx="502920" cy="5029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38698809" name="Text 6"/>
          <p:cNvSpPr/>
          <p:nvPr/>
        </p:nvSpPr>
        <p:spPr bwMode="auto">
          <a:xfrm>
            <a:off x="36576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1A2B5E"/>
                </a:solidFill>
              </a:rPr>
              <a:t>02</a:t>
            </a:r>
            <a:endParaRPr lang="en-US" sz="1200"/>
          </a:p>
        </p:txBody>
      </p:sp>
      <p:sp>
        <p:nvSpPr>
          <p:cNvPr id="359549895" name="Text 7"/>
          <p:cNvSpPr/>
          <p:nvPr/>
        </p:nvSpPr>
        <p:spPr bwMode="auto">
          <a:xfrm>
            <a:off x="960120" y="1865376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2D3748"/>
                </a:solidFill>
                <a:latin typeface="Calibri"/>
                <a:ea typeface="Calibri"/>
                <a:cs typeface="Calibri"/>
              </a:rPr>
              <a:t>Liste des boutiques &amp; liens officiels</a:t>
            </a:r>
            <a:endParaRPr lang="en-US" sz="1300"/>
          </a:p>
        </p:txBody>
      </p:sp>
      <p:sp>
        <p:nvSpPr>
          <p:cNvPr id="1049981278" name="Shape 8"/>
          <p:cNvSpPr/>
          <p:nvPr/>
        </p:nvSpPr>
        <p:spPr bwMode="auto">
          <a:xfrm>
            <a:off x="365760" y="2514600"/>
            <a:ext cx="502920" cy="5029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39085089" name="Text 9"/>
          <p:cNvSpPr/>
          <p:nvPr/>
        </p:nvSpPr>
        <p:spPr bwMode="auto">
          <a:xfrm>
            <a:off x="365760" y="2514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1A2B5E"/>
                </a:solidFill>
              </a:rPr>
              <a:t>03</a:t>
            </a:r>
            <a:endParaRPr lang="en-US" sz="1200"/>
          </a:p>
        </p:txBody>
      </p:sp>
      <p:sp>
        <p:nvSpPr>
          <p:cNvPr id="1035741581" name="Text 10"/>
          <p:cNvSpPr/>
          <p:nvPr/>
        </p:nvSpPr>
        <p:spPr bwMode="auto">
          <a:xfrm>
            <a:off x="960120" y="2551176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2D3748"/>
                </a:solidFill>
                <a:latin typeface="Calibri"/>
                <a:ea typeface="Calibri"/>
                <a:cs typeface="Calibri"/>
              </a:rPr>
              <a:t>Système de jeu &amp; bons d'achat</a:t>
            </a:r>
            <a:endParaRPr lang="en-US" sz="1300"/>
          </a:p>
        </p:txBody>
      </p:sp>
      <p:sp>
        <p:nvSpPr>
          <p:cNvPr id="1763461417" name="Shape 11"/>
          <p:cNvSpPr/>
          <p:nvPr/>
        </p:nvSpPr>
        <p:spPr bwMode="auto">
          <a:xfrm>
            <a:off x="365760" y="3200400"/>
            <a:ext cx="502920" cy="5029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00348588" name="Text 12"/>
          <p:cNvSpPr/>
          <p:nvPr/>
        </p:nvSpPr>
        <p:spPr bwMode="auto">
          <a:xfrm>
            <a:off x="365760" y="3200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1A2B5E"/>
                </a:solidFill>
              </a:rPr>
              <a:t>04</a:t>
            </a:r>
            <a:endParaRPr lang="en-US" sz="1200"/>
          </a:p>
        </p:txBody>
      </p:sp>
      <p:sp>
        <p:nvSpPr>
          <p:cNvPr id="995882203" name="Text 13"/>
          <p:cNvSpPr/>
          <p:nvPr/>
        </p:nvSpPr>
        <p:spPr bwMode="auto">
          <a:xfrm>
            <a:off x="960120" y="3236976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2D3748"/>
                </a:solidFill>
                <a:latin typeface="Calibri"/>
                <a:ea typeface="Calibri"/>
                <a:cs typeface="Calibri"/>
              </a:rPr>
              <a:t>Plan du centre</a:t>
            </a:r>
            <a:endParaRPr lang="en-US" sz="1300"/>
          </a:p>
        </p:txBody>
      </p:sp>
      <p:sp>
        <p:nvSpPr>
          <p:cNvPr id="1992449660" name="Shape 14"/>
          <p:cNvSpPr/>
          <p:nvPr/>
        </p:nvSpPr>
        <p:spPr bwMode="auto">
          <a:xfrm>
            <a:off x="365760" y="3886200"/>
            <a:ext cx="502920" cy="5029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005791062" name="Text 15"/>
          <p:cNvSpPr/>
          <p:nvPr/>
        </p:nvSpPr>
        <p:spPr bwMode="auto">
          <a:xfrm>
            <a:off x="365760" y="3886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1A2B5E"/>
                </a:solidFill>
              </a:rPr>
              <a:t>05</a:t>
            </a:r>
            <a:endParaRPr lang="en-US" sz="1200"/>
          </a:p>
        </p:txBody>
      </p:sp>
      <p:sp>
        <p:nvSpPr>
          <p:cNvPr id="1619223969" name="Text 16"/>
          <p:cNvSpPr/>
          <p:nvPr/>
        </p:nvSpPr>
        <p:spPr bwMode="auto">
          <a:xfrm>
            <a:off x="960120" y="3922776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2D3748"/>
                </a:solidFill>
                <a:latin typeface="Calibri"/>
                <a:ea typeface="Calibri"/>
                <a:cs typeface="Calibri"/>
              </a:rPr>
              <a:t>Gestion du contenu (CMS)</a:t>
            </a:r>
            <a:endParaRPr lang="en-US" sz="1300"/>
          </a:p>
        </p:txBody>
      </p:sp>
      <p:sp>
        <p:nvSpPr>
          <p:cNvPr id="1255477972" name="Shape 17"/>
          <p:cNvSpPr/>
          <p:nvPr/>
        </p:nvSpPr>
        <p:spPr bwMode="auto">
          <a:xfrm>
            <a:off x="4937760" y="1143000"/>
            <a:ext cx="502920" cy="5029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25551366" name="Text 18"/>
          <p:cNvSpPr/>
          <p:nvPr/>
        </p:nvSpPr>
        <p:spPr bwMode="auto">
          <a:xfrm>
            <a:off x="4937760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1A2B5E"/>
                </a:solidFill>
              </a:rPr>
              <a:t>06</a:t>
            </a:r>
            <a:endParaRPr lang="en-US" sz="1200"/>
          </a:p>
        </p:txBody>
      </p:sp>
      <p:sp>
        <p:nvSpPr>
          <p:cNvPr id="489000925" name="Text 19"/>
          <p:cNvSpPr/>
          <p:nvPr/>
        </p:nvSpPr>
        <p:spPr bwMode="auto">
          <a:xfrm>
            <a:off x="5532120" y="1179576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2D3748"/>
                </a:solidFill>
                <a:latin typeface="Calibri"/>
                <a:ea typeface="Calibri"/>
                <a:cs typeface="Calibri"/>
              </a:rPr>
              <a:t>Disponibilité des parkings</a:t>
            </a:r>
            <a:endParaRPr lang="en-US" sz="1300"/>
          </a:p>
        </p:txBody>
      </p:sp>
      <p:sp>
        <p:nvSpPr>
          <p:cNvPr id="324668427" name="Shape 20"/>
          <p:cNvSpPr/>
          <p:nvPr/>
        </p:nvSpPr>
        <p:spPr bwMode="auto">
          <a:xfrm>
            <a:off x="4937760" y="1828800"/>
            <a:ext cx="502920" cy="5029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924210726" name="Text 21"/>
          <p:cNvSpPr/>
          <p:nvPr/>
        </p:nvSpPr>
        <p:spPr bwMode="auto">
          <a:xfrm>
            <a:off x="493776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1A2B5E"/>
                </a:solidFill>
              </a:rPr>
              <a:t>07</a:t>
            </a:r>
            <a:endParaRPr lang="en-US" sz="1200"/>
          </a:p>
        </p:txBody>
      </p:sp>
      <p:sp>
        <p:nvSpPr>
          <p:cNvPr id="1449266233" name="Text 22"/>
          <p:cNvSpPr/>
          <p:nvPr/>
        </p:nvSpPr>
        <p:spPr bwMode="auto">
          <a:xfrm>
            <a:off x="5532120" y="1865376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2D3748"/>
                </a:solidFill>
                <a:latin typeface="Calibri"/>
                <a:ea typeface="Calibri"/>
                <a:cs typeface="Calibri"/>
              </a:rPr>
              <a:t>Statistiques de visiteurs</a:t>
            </a:r>
            <a:endParaRPr lang="en-US" sz="1300"/>
          </a:p>
        </p:txBody>
      </p:sp>
      <p:sp>
        <p:nvSpPr>
          <p:cNvPr id="2003706151" name="Shape 23"/>
          <p:cNvSpPr/>
          <p:nvPr/>
        </p:nvSpPr>
        <p:spPr bwMode="auto">
          <a:xfrm>
            <a:off x="4937760" y="2514600"/>
            <a:ext cx="502920" cy="5029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69653198" name="Text 24"/>
          <p:cNvSpPr/>
          <p:nvPr/>
        </p:nvSpPr>
        <p:spPr bwMode="auto">
          <a:xfrm>
            <a:off x="4937760" y="2514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1A2B5E"/>
                </a:solidFill>
              </a:rPr>
              <a:t>08</a:t>
            </a:r>
            <a:endParaRPr lang="en-US" sz="1200"/>
          </a:p>
        </p:txBody>
      </p:sp>
      <p:sp>
        <p:nvSpPr>
          <p:cNvPr id="1263999473" name="Text 25"/>
          <p:cNvSpPr/>
          <p:nvPr/>
        </p:nvSpPr>
        <p:spPr bwMode="auto">
          <a:xfrm>
            <a:off x="5532120" y="2551176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2D3748"/>
                </a:solidFill>
                <a:latin typeface="Calibri"/>
                <a:ea typeface="Calibri"/>
                <a:cs typeface="Calibri"/>
              </a:rPr>
              <a:t>Sécurité &amp; comptes utilisateurs</a:t>
            </a:r>
            <a:endParaRPr lang="en-US" sz="1300"/>
          </a:p>
        </p:txBody>
      </p:sp>
      <p:sp>
        <p:nvSpPr>
          <p:cNvPr id="1526399095" name="Shape 26"/>
          <p:cNvSpPr/>
          <p:nvPr/>
        </p:nvSpPr>
        <p:spPr bwMode="auto">
          <a:xfrm>
            <a:off x="4937760" y="3200400"/>
            <a:ext cx="502920" cy="5029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52525768" name="Text 27"/>
          <p:cNvSpPr/>
          <p:nvPr/>
        </p:nvSpPr>
        <p:spPr bwMode="auto">
          <a:xfrm>
            <a:off x="4937760" y="3200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1A2B5E"/>
                </a:solidFill>
              </a:rPr>
              <a:t>09</a:t>
            </a:r>
            <a:endParaRPr lang="en-US" sz="1200"/>
          </a:p>
        </p:txBody>
      </p:sp>
      <p:sp>
        <p:nvSpPr>
          <p:cNvPr id="1269018514" name="Text 28"/>
          <p:cNvSpPr/>
          <p:nvPr/>
        </p:nvSpPr>
        <p:spPr bwMode="auto">
          <a:xfrm>
            <a:off x="5532120" y="3236976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2D3748"/>
                </a:solidFill>
                <a:latin typeface="Calibri"/>
                <a:ea typeface="Calibri"/>
                <a:cs typeface="Calibri"/>
              </a:rPr>
              <a:t>Technologies &amp; coûts</a:t>
            </a:r>
            <a:endParaRPr lang="en-US" sz="13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3">
    <p:bg>
      <p:bgPr shadeToTitle="0">
        <a:solidFill>
          <a:srgbClr val="F8F9F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1008087" name="Shape 0"/>
          <p:cNvSpPr/>
          <p:nvPr/>
        </p:nvSpPr>
        <p:spPr bwMode="auto">
          <a:xfrm>
            <a:off x="0" y="0"/>
            <a:ext cx="9144000" cy="100584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412782386" name="Text 1"/>
          <p:cNvSpPr/>
          <p:nvPr/>
        </p:nvSpPr>
        <p:spPr bwMode="auto"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01 · Vue d'ensemble du projet</a:t>
            </a:r>
            <a:endParaRPr lang="en-US" sz="2000"/>
          </a:p>
        </p:txBody>
      </p:sp>
      <p:sp>
        <p:nvSpPr>
          <p:cNvPr id="1510978194" name="Shape 2"/>
          <p:cNvSpPr/>
          <p:nvPr/>
        </p:nvSpPr>
        <p:spPr bwMode="auto">
          <a:xfrm>
            <a:off x="365760" y="1097280"/>
            <a:ext cx="37490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BF4"/>
            </a:solidFill>
            <a:prstDash val="solid"/>
          </a:ln>
          <a:effectLst>
            <a:outerShdw blurRad="76200" dist="25400" dir="8100000" sx="100000" sy="100000" kx="0" ky="0" algn="bl" rotWithShape="0">
              <a:srgbClr val="000000">
                <a:alpha val="8000"/>
              </a:srgbClr>
            </a:outerShdw>
          </a:effectLst>
        </p:spPr>
      </p:sp>
      <p:sp>
        <p:nvSpPr>
          <p:cNvPr id="2007173078" name="Text 3"/>
          <p:cNvSpPr/>
          <p:nvPr/>
        </p:nvSpPr>
        <p:spPr bwMode="auto">
          <a:xfrm>
            <a:off x="457200" y="11887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1A2B5E"/>
                </a:solidFill>
                <a:latin typeface="Calibri"/>
                <a:ea typeface="Calibri"/>
                <a:cs typeface="Calibri"/>
              </a:rPr>
              <a:t>Vos demandes</a:t>
            </a:r>
            <a:endParaRPr lang="en-US" sz="1300"/>
          </a:p>
        </p:txBody>
      </p:sp>
      <p:sp>
        <p:nvSpPr>
          <p:cNvPr id="663709576" name="Text 4"/>
          <p:cNvSpPr/>
          <p:nvPr/>
        </p:nvSpPr>
        <p:spPr bwMode="auto">
          <a:xfrm>
            <a:off x="457200" y="1600200"/>
            <a:ext cx="35661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  <a:defRPr/>
            </a:pPr>
            <a:r>
              <a:rPr lang="en-US" sz="1200">
                <a:solidFill>
                  <a:srgbClr val="2D3748"/>
                </a:solidFill>
                <a:latin typeface="Calibri"/>
                <a:ea typeface="Calibri"/>
                <a:cs typeface="Calibri"/>
              </a:rPr>
              <a:t>Répertoire des boutiques</a:t>
            </a:r>
            <a:endParaRPr lang="en-US" sz="1200"/>
          </a:p>
          <a:p>
            <a:pPr marL="342900" indent="-342900">
              <a:spcAft>
                <a:spcPts val="400"/>
              </a:spcAft>
              <a:buSzPct val="100000"/>
              <a:buChar char="•"/>
              <a:defRPr/>
            </a:pPr>
            <a:r>
              <a:rPr lang="en-US" sz="1200">
                <a:solidFill>
                  <a:srgbClr val="2D3748"/>
                </a:solidFill>
                <a:latin typeface="Calibri"/>
                <a:ea typeface="Calibri"/>
                <a:cs typeface="Calibri"/>
              </a:rPr>
              <a:t>Liens officiels des magasins</a:t>
            </a:r>
            <a:endParaRPr lang="en-US" sz="1200"/>
          </a:p>
          <a:p>
            <a:pPr marL="342900" indent="-342900">
              <a:spcAft>
                <a:spcPts val="400"/>
              </a:spcAft>
              <a:buSzPct val="100000"/>
              <a:buChar char="•"/>
              <a:defRPr/>
            </a:pPr>
            <a:r>
              <a:rPr lang="en-US" sz="1200">
                <a:solidFill>
                  <a:srgbClr val="2D3748"/>
                </a:solidFill>
                <a:latin typeface="Calibri"/>
                <a:ea typeface="Calibri"/>
                <a:cs typeface="Calibri"/>
              </a:rPr>
              <a:t>Jeu concours avec bons d'achat</a:t>
            </a:r>
            <a:endParaRPr lang="en-US" sz="1200"/>
          </a:p>
          <a:p>
            <a:pPr marL="342900" indent="-342900">
              <a:spcAft>
                <a:spcPts val="400"/>
              </a:spcAft>
              <a:buSzPct val="100000"/>
              <a:buChar char="•"/>
              <a:defRPr/>
            </a:pPr>
            <a:r>
              <a:rPr lang="en-US" sz="1200">
                <a:solidFill>
                  <a:srgbClr val="2D3748"/>
                </a:solidFill>
                <a:latin typeface="Calibri"/>
                <a:ea typeface="Calibri"/>
                <a:cs typeface="Calibri"/>
              </a:rPr>
              <a:t>Plan interactif du centre</a:t>
            </a:r>
            <a:endParaRPr lang="en-US" sz="1200"/>
          </a:p>
          <a:p>
            <a:pPr marL="342900" indent="-342900">
              <a:spcAft>
                <a:spcPts val="400"/>
              </a:spcAft>
              <a:buSzPct val="100000"/>
              <a:buChar char="•"/>
              <a:defRPr/>
            </a:pPr>
            <a:r>
              <a:rPr lang="en-US" sz="1200">
                <a:solidFill>
                  <a:srgbClr val="2D3748"/>
                </a:solidFill>
                <a:latin typeface="Calibri"/>
                <a:ea typeface="Calibri"/>
                <a:cs typeface="Calibri"/>
              </a:rPr>
              <a:t>CMS pour les collaborateurs</a:t>
            </a:r>
            <a:endParaRPr lang="en-US" sz="1200"/>
          </a:p>
          <a:p>
            <a:pPr marL="342900" indent="-342900">
              <a:spcAft>
                <a:spcPts val="400"/>
              </a:spcAft>
              <a:buSzPct val="100000"/>
              <a:buChar char="•"/>
              <a:defRPr/>
            </a:pPr>
            <a:r>
              <a:rPr lang="en-US" sz="1200">
                <a:solidFill>
                  <a:srgbClr val="2D3748"/>
                </a:solidFill>
                <a:latin typeface="Calibri"/>
                <a:ea typeface="Calibri"/>
                <a:cs typeface="Calibri"/>
              </a:rPr>
              <a:t>Affichage des places de parking</a:t>
            </a:r>
            <a:endParaRPr lang="en-US" sz="1200"/>
          </a:p>
          <a:p>
            <a:pPr marL="342900" indent="-342900">
              <a:spcAft>
                <a:spcPts val="400"/>
              </a:spcAft>
              <a:buSzPct val="100000"/>
              <a:buChar char="•"/>
              <a:defRPr/>
            </a:pPr>
            <a:r>
              <a:rPr lang="en-US" sz="1200">
                <a:solidFill>
                  <a:srgbClr val="2D3748"/>
                </a:solidFill>
                <a:latin typeface="Calibri"/>
                <a:ea typeface="Calibri"/>
                <a:cs typeface="Calibri"/>
              </a:rPr>
              <a:t>Statistiques de visiteurs</a:t>
            </a:r>
            <a:endParaRPr lang="en-US" sz="1200"/>
          </a:p>
        </p:txBody>
      </p:sp>
      <p:sp>
        <p:nvSpPr>
          <p:cNvPr id="1204758970" name="Shape 5"/>
          <p:cNvSpPr/>
          <p:nvPr/>
        </p:nvSpPr>
        <p:spPr bwMode="auto">
          <a:xfrm>
            <a:off x="4389120" y="1097280"/>
            <a:ext cx="4389120" cy="347472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  <a:effectLst>
            <a:outerShdw blurRad="76200" dist="25400" dir="81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1941834636" name="Text 6"/>
          <p:cNvSpPr/>
          <p:nvPr/>
        </p:nvSpPr>
        <p:spPr bwMode="auto">
          <a:xfrm>
            <a:off x="4526280" y="11887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F5A623"/>
                </a:solidFill>
                <a:latin typeface="Calibri"/>
                <a:ea typeface="Calibri"/>
                <a:cs typeface="Calibri"/>
              </a:rPr>
              <a:t>Notre solution</a:t>
            </a:r>
            <a:endParaRPr lang="en-US" sz="1300"/>
          </a:p>
        </p:txBody>
      </p:sp>
      <p:sp>
        <p:nvSpPr>
          <p:cNvPr id="1583305751" name="Text 7"/>
          <p:cNvSpPr/>
          <p:nvPr/>
        </p:nvSpPr>
        <p:spPr bwMode="auto">
          <a:xfrm>
            <a:off x="4526280" y="1600200"/>
            <a:ext cx="41148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  <a:defRPr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Site web construit avec Dioxus (open-source, gratuit)</a:t>
            </a:r>
            <a:endParaRPr lang="en-US" sz="1200"/>
          </a:p>
          <a:p>
            <a:pPr marL="342900" indent="-342900">
              <a:spcAft>
                <a:spcPts val="400"/>
              </a:spcAft>
              <a:buSzPct val="100000"/>
              <a:buChar char="•"/>
              <a:defRPr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Base de données intégrée (Facilement adaptable</a:t>
            </a: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)</a:t>
            </a:r>
            <a:endParaRPr lang="en-US" sz="120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  <a:defRPr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Jeu personnalisé style “Gacha Game”</a:t>
            </a:r>
            <a:endParaRPr lang="en-US" sz="1200"/>
          </a:p>
          <a:p>
            <a:pPr marL="342900" indent="-342900">
              <a:spcAft>
                <a:spcPts val="400"/>
              </a:spcAft>
              <a:buSzPct val="100000"/>
              <a:buChar char="•"/>
              <a:defRPr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Ecran de monitoring</a:t>
            </a:r>
            <a:endParaRPr lang="en-US" sz="1200"/>
          </a:p>
          <a:p>
            <a:pPr marL="342900" indent="-342900">
              <a:spcAft>
                <a:spcPts val="400"/>
              </a:spcAft>
              <a:buSzPct val="100000"/>
              <a:buChar char="•"/>
              <a:defRPr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Interface d'administration intuitive</a:t>
            </a:r>
            <a:endParaRPr lang="en-US" sz="120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399"/>
              </a:spcAft>
              <a:buSzPct val="100000"/>
              <a:buChar char="•"/>
              <a:defRPr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Construit avec modularisation comme motto principal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4">
    <p:bg>
      <p:bgPr shadeToTitle="0">
        <a:solidFill>
          <a:srgbClr val="F8F9F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2210046" name="Shape 0"/>
          <p:cNvSpPr/>
          <p:nvPr/>
        </p:nvSpPr>
        <p:spPr bwMode="auto">
          <a:xfrm>
            <a:off x="0" y="0"/>
            <a:ext cx="9144000" cy="100584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1603302224" name="Text 1"/>
          <p:cNvSpPr/>
          <p:nvPr/>
        </p:nvSpPr>
        <p:spPr bwMode="auto"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02 · Liste des boutiques</a:t>
            </a:r>
            <a:endParaRPr lang="en-US" sz="2000"/>
          </a:p>
        </p:txBody>
      </p:sp>
      <p:pic>
        <p:nvPicPr>
          <p:cNvPr id="507221518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65760" y="1143000"/>
            <a:ext cx="411480" cy="411480"/>
          </a:xfrm>
          <a:prstGeom prst="rect">
            <a:avLst/>
          </a:prstGeom>
        </p:spPr>
      </p:pic>
      <p:sp>
        <p:nvSpPr>
          <p:cNvPr id="2081872860" name="Text 2"/>
          <p:cNvSpPr/>
          <p:nvPr/>
        </p:nvSpPr>
        <p:spPr bwMode="auto">
          <a:xfrm>
            <a:off x="868680" y="11430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1A2B5E"/>
                </a:solidFill>
                <a:latin typeface="Calibri"/>
                <a:ea typeface="Calibri"/>
                <a:cs typeface="Calibri"/>
              </a:rPr>
              <a:t>Fonctionnalité</a:t>
            </a:r>
            <a:endParaRPr lang="en-US" sz="1400"/>
          </a:p>
        </p:txBody>
      </p:sp>
      <p:sp>
        <p:nvSpPr>
          <p:cNvPr id="238214463" name="Text 3"/>
          <p:cNvSpPr/>
          <p:nvPr/>
        </p:nvSpPr>
        <p:spPr bwMode="auto">
          <a:xfrm>
            <a:off x="365760" y="1600200"/>
            <a:ext cx="41148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0" i="0" u="none" strike="noStrike" cap="none" spc="0">
                <a:solidFill>
                  <a:srgbClr val="2D3748"/>
                </a:solidFill>
                <a:latin typeface="Calibri"/>
                <a:ea typeface="Calibri"/>
                <a:cs typeface="Calibri"/>
              </a:rPr>
              <a:t>Chaque boutique est listée et facilement recherchable :</a:t>
            </a:r>
            <a:endParaRPr sz="1200"/>
          </a:p>
          <a:p>
            <a:pPr marL="342900" indent="-342900">
              <a:buSzPct val="100000"/>
              <a:buChar char="•"/>
              <a:defRPr/>
            </a:pPr>
            <a:r>
              <a:rPr lang="en-US" sz="1200">
                <a:solidFill>
                  <a:srgbClr val="2D3748"/>
                </a:solidFill>
                <a:latin typeface="Calibri"/>
                <a:ea typeface="Calibri"/>
                <a:cs typeface="Calibri"/>
              </a:rPr>
              <a:t>Nom, description et logo du magasin</a:t>
            </a:r>
            <a:endParaRPr lang="en-US" sz="1200"/>
          </a:p>
          <a:p>
            <a:pPr marL="342900" indent="-342900">
              <a:buSzPct val="100000"/>
              <a:buChar char="•"/>
              <a:defRPr/>
            </a:pPr>
            <a:r>
              <a:rPr lang="en-US" sz="1200">
                <a:solidFill>
                  <a:srgbClr val="2D3748"/>
                </a:solidFill>
                <a:latin typeface="Calibri"/>
                <a:ea typeface="Calibri"/>
                <a:cs typeface="Calibri"/>
              </a:rPr>
              <a:t>Emplacement dans le centre</a:t>
            </a:r>
            <a:endParaRPr lang="en-US" sz="1200">
              <a:solidFill>
                <a:srgbClr val="2D3748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buSzPct val="100000"/>
              <a:buChar char="•"/>
              <a:defRPr/>
            </a:pPr>
            <a:r>
              <a:rPr lang="en-US" sz="1200">
                <a:solidFill>
                  <a:srgbClr val="2D3748"/>
                </a:solidFill>
                <a:latin typeface="Calibri"/>
                <a:ea typeface="Calibri"/>
                <a:cs typeface="Calibri"/>
              </a:rPr>
              <a:t>Photo OU logo de la boutique</a:t>
            </a:r>
            <a:endParaRPr lang="en-US" sz="1200"/>
          </a:p>
        </p:txBody>
      </p:sp>
      <p:sp>
        <p:nvSpPr>
          <p:cNvPr id="79745424" name="Shape 4"/>
          <p:cNvSpPr/>
          <p:nvPr/>
        </p:nvSpPr>
        <p:spPr bwMode="auto">
          <a:xfrm>
            <a:off x="4754880" y="1097280"/>
            <a:ext cx="40233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BF4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1138403946" name="Shape 5"/>
          <p:cNvSpPr/>
          <p:nvPr/>
        </p:nvSpPr>
        <p:spPr bwMode="auto">
          <a:xfrm>
            <a:off x="4754880" y="1097280"/>
            <a:ext cx="4023360" cy="320040"/>
          </a:xfrm>
          <a:prstGeom prst="rect">
            <a:avLst/>
          </a:prstGeom>
          <a:solidFill>
            <a:srgbClr val="E8EBF4"/>
          </a:solidFill>
          <a:ln w="12700">
            <a:solidFill>
              <a:srgbClr val="E8EBF4"/>
            </a:solidFill>
            <a:prstDash val="solid"/>
          </a:ln>
        </p:spPr>
      </p:sp>
      <p:sp>
        <p:nvSpPr>
          <p:cNvPr id="1624540443" name="Text 6"/>
          <p:cNvSpPr/>
          <p:nvPr/>
        </p:nvSpPr>
        <p:spPr bwMode="auto">
          <a:xfrm>
            <a:off x="4800600" y="111556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00">
                <a:solidFill>
                  <a:srgbClr val="718096"/>
                </a:solidFill>
              </a:rPr>
              <a:t>🔒 www.foxtown.ch/stores</a:t>
            </a:r>
            <a:endParaRPr lang="en-US" sz="800"/>
          </a:p>
        </p:txBody>
      </p:sp>
      <p:sp>
        <p:nvSpPr>
          <p:cNvPr id="2046202700" name="Text 21"/>
          <p:cNvSpPr/>
          <p:nvPr/>
        </p:nvSpPr>
        <p:spPr bwMode="auto">
          <a:xfrm>
            <a:off x="365760" y="4251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i="1">
                <a:solidFill>
                  <a:srgbClr val="718096"/>
                </a:solidFill>
                <a:latin typeface="Calibri"/>
                <a:ea typeface="Calibri"/>
                <a:cs typeface="Calibri"/>
              </a:rPr>
              <a:t>Mise à jour facile via l’outils de gestion des boutiques</a:t>
            </a:r>
            <a:endParaRPr lang="en-US" sz="1100"/>
          </a:p>
        </p:txBody>
      </p:sp>
      <p:pic>
        <p:nvPicPr>
          <p:cNvPr id="1539878310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4777740" y="1554479"/>
            <a:ext cx="3977639" cy="27180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4">
    <p:bg>
      <p:bgPr shadeToTitle="0">
        <a:solidFill>
          <a:srgbClr val="F8F9F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6002365" name="Shape 0"/>
          <p:cNvSpPr/>
          <p:nvPr/>
        </p:nvSpPr>
        <p:spPr bwMode="auto">
          <a:xfrm>
            <a:off x="0" y="0"/>
            <a:ext cx="9144000" cy="100584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921322164" name="Text 1"/>
          <p:cNvSpPr/>
          <p:nvPr/>
        </p:nvSpPr>
        <p:spPr bwMode="auto"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02 · Liste des boutiques </a:t>
            </a:r>
            <a:endParaRPr lang="en-US" sz="2000"/>
          </a:p>
        </p:txBody>
      </p:sp>
      <p:pic>
        <p:nvPicPr>
          <p:cNvPr id="503405702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65760" y="1143000"/>
            <a:ext cx="411480" cy="411480"/>
          </a:xfrm>
          <a:prstGeom prst="rect">
            <a:avLst/>
          </a:prstGeom>
        </p:spPr>
      </p:pic>
      <p:sp>
        <p:nvSpPr>
          <p:cNvPr id="1416897723" name="Text 2"/>
          <p:cNvSpPr/>
          <p:nvPr/>
        </p:nvSpPr>
        <p:spPr bwMode="auto">
          <a:xfrm>
            <a:off x="868680" y="11430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1A2B5E"/>
                </a:solidFill>
                <a:latin typeface="Calibri"/>
                <a:ea typeface="Calibri"/>
                <a:cs typeface="Calibri"/>
              </a:rPr>
              <a:t>Fonctionnalité</a:t>
            </a:r>
            <a:endParaRPr lang="en-US" sz="1400"/>
          </a:p>
        </p:txBody>
      </p:sp>
      <p:sp>
        <p:nvSpPr>
          <p:cNvPr id="758282063" name="Text 3"/>
          <p:cNvSpPr/>
          <p:nvPr/>
        </p:nvSpPr>
        <p:spPr bwMode="auto">
          <a:xfrm>
            <a:off x="365760" y="1600200"/>
            <a:ext cx="41148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2D3748"/>
                </a:solidFill>
                <a:latin typeface="Calibri"/>
                <a:ea typeface="Calibri"/>
                <a:cs typeface="Calibri"/>
              </a:rPr>
              <a:t>Chaque boutique dispose de sa propre fiche détaillée avec :</a:t>
            </a:r>
            <a:endParaRPr lang="en-US" sz="1200"/>
          </a:p>
          <a:p>
            <a:pPr marL="342900" indent="-342900">
              <a:buSzPct val="100000"/>
              <a:buChar char="•"/>
              <a:defRPr/>
            </a:pPr>
            <a:r>
              <a:rPr lang="en-US" sz="1200">
                <a:solidFill>
                  <a:srgbClr val="2D3748"/>
                </a:solidFill>
                <a:latin typeface="Calibri"/>
                <a:ea typeface="Calibri"/>
                <a:cs typeface="Calibri"/>
              </a:rPr>
              <a:t>Nom, description et logo du magasin</a:t>
            </a:r>
            <a:endParaRPr lang="en-US" sz="1200"/>
          </a:p>
          <a:p>
            <a:pPr marL="342900" indent="-342900">
              <a:buSzPct val="100000"/>
              <a:buChar char="•"/>
              <a:defRPr/>
            </a:pPr>
            <a:r>
              <a:rPr lang="en-US" sz="1200">
                <a:solidFill>
                  <a:srgbClr val="2D3748"/>
                </a:solidFill>
                <a:latin typeface="Calibri"/>
                <a:ea typeface="Calibri"/>
                <a:cs typeface="Calibri"/>
              </a:rPr>
              <a:t>Horaires d'ouverture</a:t>
            </a:r>
            <a:endParaRPr lang="en-US" sz="1200"/>
          </a:p>
          <a:p>
            <a:pPr marL="342900" indent="-342900">
              <a:buSzPct val="100000"/>
              <a:buChar char="•"/>
              <a:defRPr/>
            </a:pPr>
            <a:r>
              <a:rPr lang="en-US" sz="1200">
                <a:solidFill>
                  <a:srgbClr val="2D3748"/>
                </a:solidFill>
                <a:latin typeface="Calibri"/>
                <a:ea typeface="Calibri"/>
                <a:cs typeface="Calibri"/>
              </a:rPr>
              <a:t>Emplacement dans le centre</a:t>
            </a:r>
            <a:endParaRPr lang="en-US" sz="1200"/>
          </a:p>
          <a:p>
            <a:pPr marL="342900" indent="-342900">
              <a:buSzPct val="100000"/>
              <a:buChar char="•"/>
              <a:defRPr/>
            </a:pPr>
            <a:r>
              <a:rPr lang="en-US" sz="1200">
                <a:solidFill>
                  <a:srgbClr val="2D3748"/>
                </a:solidFill>
                <a:latin typeface="Calibri"/>
                <a:ea typeface="Calibri"/>
                <a:cs typeface="Calibri"/>
              </a:rPr>
              <a:t>Lien cliquable vers le site officiel du magasin</a:t>
            </a:r>
            <a:endParaRPr lang="en-US" sz="1200"/>
          </a:p>
        </p:txBody>
      </p:sp>
      <p:sp>
        <p:nvSpPr>
          <p:cNvPr id="774345630" name="Shape 4"/>
          <p:cNvSpPr/>
          <p:nvPr/>
        </p:nvSpPr>
        <p:spPr bwMode="auto">
          <a:xfrm>
            <a:off x="4754880" y="1097280"/>
            <a:ext cx="40233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BF4"/>
            </a:solidFill>
            <a:prstDash val="solid"/>
          </a:ln>
          <a:effectLst>
            <a:outerShdw blurRad="101600" dist="38100" dir="81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769228292" name="Shape 5"/>
          <p:cNvSpPr/>
          <p:nvPr/>
        </p:nvSpPr>
        <p:spPr bwMode="auto">
          <a:xfrm>
            <a:off x="4754880" y="1097280"/>
            <a:ext cx="4023360" cy="320040"/>
          </a:xfrm>
          <a:prstGeom prst="rect">
            <a:avLst/>
          </a:prstGeom>
          <a:solidFill>
            <a:srgbClr val="E8EBF4"/>
          </a:solidFill>
          <a:ln w="12700">
            <a:solidFill>
              <a:srgbClr val="E8EBF4"/>
            </a:solidFill>
            <a:prstDash val="solid"/>
          </a:ln>
        </p:spPr>
      </p:sp>
      <p:sp>
        <p:nvSpPr>
          <p:cNvPr id="399622021" name="Text 6"/>
          <p:cNvSpPr/>
          <p:nvPr/>
        </p:nvSpPr>
        <p:spPr bwMode="auto">
          <a:xfrm>
            <a:off x="4800600" y="111556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00">
                <a:solidFill>
                  <a:srgbClr val="718096"/>
                </a:solidFill>
              </a:rPr>
              <a:t>🔒 www.foxtown.ch/stores</a:t>
            </a:r>
            <a:r>
              <a:rPr lang="en-US" sz="800" b="0" i="0" u="none" strike="noStrike" cap="none" spc="0">
                <a:solidFill>
                  <a:srgbClr val="718096"/>
                </a:solidFill>
                <a:latin typeface="+mn-lt"/>
                <a:ea typeface="+mn-ea"/>
                <a:cs typeface="+mn-cs"/>
              </a:rPr>
              <a:t>/polo-ralph-lauren</a:t>
            </a:r>
            <a:endParaRPr lang="en-US" sz="800"/>
          </a:p>
        </p:txBody>
      </p:sp>
      <p:sp>
        <p:nvSpPr>
          <p:cNvPr id="1014997632" name="Text 21"/>
          <p:cNvSpPr/>
          <p:nvPr/>
        </p:nvSpPr>
        <p:spPr bwMode="auto">
          <a:xfrm>
            <a:off x="365760" y="4251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i="1">
                <a:solidFill>
                  <a:srgbClr val="718096"/>
                </a:solidFill>
                <a:latin typeface="Calibri"/>
                <a:ea typeface="Calibri"/>
                <a:cs typeface="Calibri"/>
              </a:rPr>
              <a:t>Mise à jour facile via l’outils de gestion des boutiques</a:t>
            </a:r>
            <a:endParaRPr lang="en-US" sz="1100"/>
          </a:p>
        </p:txBody>
      </p:sp>
      <p:pic>
        <p:nvPicPr>
          <p:cNvPr id="424638626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4777740" y="1554479"/>
            <a:ext cx="3975783" cy="18291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4">
    <p:bg>
      <p:bgPr shadeToTitle="0">
        <a:solidFill>
          <a:srgbClr val="F8F9F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4809561" name="Shape 0"/>
          <p:cNvSpPr/>
          <p:nvPr/>
        </p:nvSpPr>
        <p:spPr bwMode="auto">
          <a:xfrm>
            <a:off x="0" y="0"/>
            <a:ext cx="9144000" cy="100584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1215840578" name="Text 1"/>
          <p:cNvSpPr/>
          <p:nvPr/>
        </p:nvSpPr>
        <p:spPr bwMode="auto"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02 · Liste des boutiques </a:t>
            </a:r>
            <a:endParaRPr lang="en-US" sz="2000"/>
          </a:p>
        </p:txBody>
      </p:sp>
      <p:pic>
        <p:nvPicPr>
          <p:cNvPr id="798279307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65760" y="1143000"/>
            <a:ext cx="411480" cy="411480"/>
          </a:xfrm>
          <a:prstGeom prst="rect">
            <a:avLst/>
          </a:prstGeom>
        </p:spPr>
      </p:pic>
      <p:sp>
        <p:nvSpPr>
          <p:cNvPr id="2142813270" name="Text 2"/>
          <p:cNvSpPr/>
          <p:nvPr/>
        </p:nvSpPr>
        <p:spPr bwMode="auto">
          <a:xfrm>
            <a:off x="868680" y="11430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1A2B5E"/>
                </a:solidFill>
                <a:latin typeface="Calibri"/>
                <a:ea typeface="Calibri"/>
                <a:cs typeface="Calibri"/>
              </a:rPr>
              <a:t>Fonctionnalité</a:t>
            </a:r>
            <a:endParaRPr lang="en-US" sz="1400"/>
          </a:p>
        </p:txBody>
      </p:sp>
      <p:sp>
        <p:nvSpPr>
          <p:cNvPr id="124327602" name="Text 3"/>
          <p:cNvSpPr/>
          <p:nvPr/>
        </p:nvSpPr>
        <p:spPr bwMode="auto">
          <a:xfrm>
            <a:off x="365760" y="1600200"/>
            <a:ext cx="41148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2D3748"/>
                </a:solidFill>
                <a:latin typeface="Calibri"/>
                <a:ea typeface="Calibri"/>
                <a:cs typeface="Calibri"/>
              </a:rPr>
              <a:t>Chaque boutique dispose de sa propre fiche détaillée avec :</a:t>
            </a:r>
            <a:endParaRPr lang="en-US" sz="1200"/>
          </a:p>
          <a:p>
            <a:pPr marL="342900" indent="-342900">
              <a:buSzPct val="100000"/>
              <a:buChar char="•"/>
              <a:defRPr/>
            </a:pPr>
            <a:r>
              <a:rPr lang="en-US" sz="1200">
                <a:solidFill>
                  <a:srgbClr val="2D3748"/>
                </a:solidFill>
                <a:latin typeface="Calibri"/>
                <a:ea typeface="Calibri"/>
                <a:cs typeface="Calibri"/>
              </a:rPr>
              <a:t>Nom, description et logo du magasin</a:t>
            </a:r>
            <a:endParaRPr lang="en-US" sz="1200"/>
          </a:p>
          <a:p>
            <a:pPr marL="342900" indent="-342900">
              <a:buSzPct val="100000"/>
              <a:buChar char="•"/>
              <a:defRPr/>
            </a:pPr>
            <a:r>
              <a:rPr lang="en-US" sz="1200">
                <a:solidFill>
                  <a:srgbClr val="2D3748"/>
                </a:solidFill>
                <a:latin typeface="Calibri"/>
                <a:ea typeface="Calibri"/>
                <a:cs typeface="Calibri"/>
              </a:rPr>
              <a:t>Horaires d'ouverture</a:t>
            </a:r>
            <a:endParaRPr lang="en-US" sz="1200"/>
          </a:p>
          <a:p>
            <a:pPr marL="342900" indent="-342900">
              <a:buSzPct val="100000"/>
              <a:buChar char="•"/>
              <a:defRPr/>
            </a:pPr>
            <a:r>
              <a:rPr lang="en-US" sz="1200">
                <a:solidFill>
                  <a:srgbClr val="2D3748"/>
                </a:solidFill>
                <a:latin typeface="Calibri"/>
                <a:ea typeface="Calibri"/>
                <a:cs typeface="Calibri"/>
              </a:rPr>
              <a:t>Emplacement dans le centre</a:t>
            </a:r>
            <a:endParaRPr lang="en-US" sz="1200"/>
          </a:p>
          <a:p>
            <a:pPr marL="342900" indent="-342900">
              <a:buSzPct val="100000"/>
              <a:buChar char="•"/>
              <a:defRPr/>
            </a:pPr>
            <a:r>
              <a:rPr lang="en-US" sz="1200">
                <a:solidFill>
                  <a:srgbClr val="2D3748"/>
                </a:solidFill>
                <a:latin typeface="Calibri"/>
                <a:ea typeface="Calibri"/>
                <a:cs typeface="Calibri"/>
              </a:rPr>
              <a:t>Lien cliquable vers le site officiel du magasin</a:t>
            </a:r>
            <a:endParaRPr lang="en-US" sz="1200"/>
          </a:p>
        </p:txBody>
      </p:sp>
      <p:sp>
        <p:nvSpPr>
          <p:cNvPr id="1406712407" name="Text 21"/>
          <p:cNvSpPr/>
          <p:nvPr/>
        </p:nvSpPr>
        <p:spPr bwMode="auto">
          <a:xfrm>
            <a:off x="365760" y="4251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i="1">
                <a:solidFill>
                  <a:srgbClr val="718096"/>
                </a:solidFill>
                <a:latin typeface="Calibri"/>
                <a:ea typeface="Calibri"/>
                <a:cs typeface="Calibri"/>
              </a:rPr>
              <a:t>Mise à jour facile via l’outils de gestion des boutiques</a:t>
            </a:r>
            <a:endParaRPr lang="en-US" sz="1100"/>
          </a:p>
        </p:txBody>
      </p:sp>
      <p:grpSp>
        <p:nvGrpSpPr>
          <p:cNvPr id="202114757" name=""/>
          <p:cNvGrpSpPr/>
          <p:nvPr/>
        </p:nvGrpSpPr>
        <p:grpSpPr bwMode="auto">
          <a:xfrm>
            <a:off x="4754880" y="1097280"/>
            <a:ext cx="4023360" cy="3566159"/>
            <a:chOff x="0" y="0"/>
            <a:chExt cx="4023360" cy="3566159"/>
          </a:xfrm>
        </p:grpSpPr>
        <p:sp>
          <p:nvSpPr>
            <p:cNvPr id="1049076169" name="Shape 4"/>
            <p:cNvSpPr/>
            <p:nvPr/>
          </p:nvSpPr>
          <p:spPr bwMode="auto">
            <a:xfrm>
              <a:off x="0" y="0"/>
              <a:ext cx="4023360" cy="35661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8EBF4"/>
              </a:solidFill>
              <a:prstDash val="solid"/>
            </a:ln>
            <a:effectLst>
              <a:outerShdw blurRad="101600" dist="38100" dir="8100000" sx="100000" sy="100000" kx="0" ky="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1684578543" name="Shape 5"/>
            <p:cNvSpPr/>
            <p:nvPr/>
          </p:nvSpPr>
          <p:spPr bwMode="auto">
            <a:xfrm>
              <a:off x="0" y="0"/>
              <a:ext cx="4023360" cy="320040"/>
            </a:xfrm>
            <a:prstGeom prst="rect">
              <a:avLst/>
            </a:prstGeom>
            <a:solidFill>
              <a:srgbClr val="E8EBF4"/>
            </a:solidFill>
            <a:ln w="12700">
              <a:solidFill>
                <a:srgbClr val="E8EBF4"/>
              </a:solidFill>
              <a:prstDash val="solid"/>
            </a:ln>
          </p:spPr>
        </p:sp>
        <p:sp>
          <p:nvSpPr>
            <p:cNvPr id="2115985577" name="Text 6"/>
            <p:cNvSpPr/>
            <p:nvPr/>
          </p:nvSpPr>
          <p:spPr bwMode="auto">
            <a:xfrm>
              <a:off x="45719" y="18287"/>
              <a:ext cx="393192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  <a:defRPr/>
              </a:pPr>
              <a:r>
                <a:rPr lang="en-US" sz="800">
                  <a:solidFill>
                    <a:srgbClr val="718096"/>
                  </a:solidFill>
                </a:rPr>
                <a:t>🔒 www.foxtown.ch/stores</a:t>
              </a:r>
              <a:r>
                <a:rPr lang="en-US" sz="800" b="0" i="0" u="none" strike="noStrike" cap="none" spc="0">
                  <a:solidFill>
                    <a:srgbClr val="718096"/>
                  </a:solidFill>
                  <a:latin typeface="Calibri"/>
                  <a:ea typeface="Arial"/>
                  <a:cs typeface="Arial"/>
                </a:rPr>
                <a:t>/polo-ralph-lauren</a:t>
              </a:r>
              <a:endParaRPr lang="en-US" sz="80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">
    <p:bg>
      <p:bgPr shadeToTitle="0">
        <a:solidFill>
          <a:srgbClr val="1A2B5E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0248697" name="Shape 0"/>
          <p:cNvSpPr/>
          <p:nvPr/>
        </p:nvSpPr>
        <p:spPr bwMode="auto">
          <a:xfrm>
            <a:off x="0" y="0"/>
            <a:ext cx="9144000" cy="1005840"/>
          </a:xfrm>
          <a:prstGeom prst="rect">
            <a:avLst/>
          </a:prstGeom>
          <a:solidFill>
            <a:srgbClr val="243572"/>
          </a:solidFill>
          <a:ln w="12700">
            <a:solidFill>
              <a:srgbClr val="243572"/>
            </a:solidFill>
            <a:prstDash val="solid"/>
          </a:ln>
        </p:spPr>
      </p:sp>
      <p:sp>
        <p:nvSpPr>
          <p:cNvPr id="1664709412" name="Text 1"/>
          <p:cNvSpPr/>
          <p:nvPr/>
        </p:nvSpPr>
        <p:spPr bwMode="auto"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F5A623"/>
                </a:solidFill>
                <a:latin typeface="Calibri"/>
                <a:ea typeface="Calibri"/>
                <a:cs typeface="Calibri"/>
              </a:rPr>
              <a:t>03 · Système de jeu &amp; bons d'achat</a:t>
            </a:r>
            <a:endParaRPr lang="en-US" sz="2000"/>
          </a:p>
        </p:txBody>
      </p:sp>
      <p:pic>
        <p:nvPicPr>
          <p:cNvPr id="747128742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65760" y="1143000"/>
            <a:ext cx="457200" cy="457200"/>
          </a:xfrm>
          <a:prstGeom prst="rect">
            <a:avLst/>
          </a:prstGeom>
        </p:spPr>
      </p:pic>
      <p:sp>
        <p:nvSpPr>
          <p:cNvPr id="1192147735" name="Text 2"/>
          <p:cNvSpPr/>
          <p:nvPr/>
        </p:nvSpPr>
        <p:spPr bwMode="auto">
          <a:xfrm>
            <a:off x="905256" y="1170432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Jeu de tirage style “Gacha”</a:t>
            </a:r>
            <a:endParaRPr lang="en-US" sz="1500"/>
          </a:p>
        </p:txBody>
      </p:sp>
      <p:sp>
        <p:nvSpPr>
          <p:cNvPr id="882953730" name="Shape 3"/>
          <p:cNvSpPr/>
          <p:nvPr/>
        </p:nvSpPr>
        <p:spPr bwMode="auto">
          <a:xfrm flipH="0" flipV="0">
            <a:off x="365760" y="1691640"/>
            <a:ext cx="3607989" cy="685800"/>
          </a:xfrm>
          <a:prstGeom prst="rect">
            <a:avLst/>
          </a:prstGeom>
          <a:solidFill>
            <a:srgbClr val="243572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125280069" name="Shape 4"/>
          <p:cNvSpPr/>
          <p:nvPr/>
        </p:nvSpPr>
        <p:spPr bwMode="auto">
          <a:xfrm>
            <a:off x="365760" y="1691640"/>
            <a:ext cx="73152" cy="6858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997595087" name="Text 5"/>
          <p:cNvSpPr/>
          <p:nvPr/>
        </p:nvSpPr>
        <p:spPr bwMode="auto">
          <a:xfrm>
            <a:off x="530352" y="176479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F5A623"/>
                </a:solidFill>
                <a:latin typeface="Calibri"/>
                <a:ea typeface="Calibri"/>
                <a:cs typeface="Calibri"/>
              </a:rPr>
              <a:t>Connexion obligatoire</a:t>
            </a:r>
            <a:endParaRPr lang="en-US" sz="1100"/>
          </a:p>
        </p:txBody>
      </p:sp>
      <p:sp>
        <p:nvSpPr>
          <p:cNvPr id="1773618945" name="Text 6"/>
          <p:cNvSpPr/>
          <p:nvPr/>
        </p:nvSpPr>
        <p:spPr bwMode="auto">
          <a:xfrm>
            <a:off x="530352" y="202082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Le client doit être connecté à son compte</a:t>
            </a:r>
            <a:endParaRPr lang="en-US" sz="1000"/>
          </a:p>
        </p:txBody>
      </p:sp>
      <p:sp>
        <p:nvSpPr>
          <p:cNvPr id="922173608" name="Shape 7"/>
          <p:cNvSpPr/>
          <p:nvPr/>
        </p:nvSpPr>
        <p:spPr bwMode="auto">
          <a:xfrm flipH="0" flipV="0">
            <a:off x="365759" y="2487167"/>
            <a:ext cx="3607989" cy="685800"/>
          </a:xfrm>
          <a:prstGeom prst="rect">
            <a:avLst/>
          </a:prstGeom>
          <a:solidFill>
            <a:srgbClr val="243572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070608493" name="Shape 8"/>
          <p:cNvSpPr/>
          <p:nvPr/>
        </p:nvSpPr>
        <p:spPr bwMode="auto">
          <a:xfrm>
            <a:off x="365760" y="2487168"/>
            <a:ext cx="73152" cy="6858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227256573" name="Text 9"/>
          <p:cNvSpPr/>
          <p:nvPr/>
        </p:nvSpPr>
        <p:spPr bwMode="auto">
          <a:xfrm>
            <a:off x="530352" y="25603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F5A623"/>
                </a:solidFill>
                <a:latin typeface="Calibri"/>
                <a:ea typeface="Calibri"/>
                <a:cs typeface="Calibri"/>
              </a:rPr>
              <a:t>1 partie / jour</a:t>
            </a:r>
            <a:endParaRPr lang="en-US" sz="1100"/>
          </a:p>
        </p:txBody>
      </p:sp>
      <p:sp>
        <p:nvSpPr>
          <p:cNvPr id="1501506519" name="Text 10"/>
          <p:cNvSpPr/>
          <p:nvPr/>
        </p:nvSpPr>
        <p:spPr bwMode="auto">
          <a:xfrm>
            <a:off x="530352" y="28163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Limité à une tentative par utilisateur par jour</a:t>
            </a:r>
            <a:endParaRPr lang="en-US" sz="1000"/>
          </a:p>
        </p:txBody>
      </p:sp>
      <p:sp>
        <p:nvSpPr>
          <p:cNvPr id="14128977" name="Shape 11"/>
          <p:cNvSpPr/>
          <p:nvPr/>
        </p:nvSpPr>
        <p:spPr bwMode="auto">
          <a:xfrm flipH="0" flipV="0">
            <a:off x="365759" y="3282696"/>
            <a:ext cx="3607989" cy="685800"/>
          </a:xfrm>
          <a:prstGeom prst="rect">
            <a:avLst/>
          </a:prstGeom>
          <a:solidFill>
            <a:srgbClr val="243572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36103822" name="Shape 12"/>
          <p:cNvSpPr/>
          <p:nvPr/>
        </p:nvSpPr>
        <p:spPr bwMode="auto">
          <a:xfrm>
            <a:off x="365760" y="3282696"/>
            <a:ext cx="73152" cy="6858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63052959" name="Text 13"/>
          <p:cNvSpPr/>
          <p:nvPr/>
        </p:nvSpPr>
        <p:spPr bwMode="auto">
          <a:xfrm>
            <a:off x="530352" y="335584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F5A623"/>
                </a:solidFill>
                <a:latin typeface="Calibri"/>
                <a:ea typeface="Calibri"/>
                <a:cs typeface="Calibri"/>
              </a:rPr>
              <a:t>2ème chance</a:t>
            </a:r>
            <a:endParaRPr lang="en-US" sz="1100"/>
          </a:p>
        </p:txBody>
      </p:sp>
      <p:sp>
        <p:nvSpPr>
          <p:cNvPr id="1790524205" name="Text 14"/>
          <p:cNvSpPr/>
          <p:nvPr/>
        </p:nvSpPr>
        <p:spPr bwMode="auto">
          <a:xfrm>
            <a:off x="530352" y="3611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En cas d'échec au 1er tour, une 2ème tentative est offerte</a:t>
            </a:r>
            <a:endParaRPr lang="en-US" sz="1000"/>
          </a:p>
        </p:txBody>
      </p:sp>
      <p:sp>
        <p:nvSpPr>
          <p:cNvPr id="1130213037" name="Shape 15"/>
          <p:cNvSpPr/>
          <p:nvPr/>
        </p:nvSpPr>
        <p:spPr bwMode="auto">
          <a:xfrm flipH="0" flipV="0">
            <a:off x="365759" y="4078224"/>
            <a:ext cx="3607989" cy="685800"/>
          </a:xfrm>
          <a:prstGeom prst="rect">
            <a:avLst/>
          </a:prstGeom>
          <a:solidFill>
            <a:srgbClr val="243572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238865050" name="Shape 16"/>
          <p:cNvSpPr/>
          <p:nvPr/>
        </p:nvSpPr>
        <p:spPr bwMode="auto">
          <a:xfrm>
            <a:off x="365760" y="4078224"/>
            <a:ext cx="73152" cy="6858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72653623" name="Text 17"/>
          <p:cNvSpPr/>
          <p:nvPr/>
        </p:nvSpPr>
        <p:spPr bwMode="auto">
          <a:xfrm>
            <a:off x="530352" y="4151376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F5A623"/>
                </a:solidFill>
                <a:latin typeface="Calibri"/>
                <a:ea typeface="Calibri"/>
                <a:cs typeface="Calibri"/>
              </a:rPr>
              <a:t>10 cadeaux max/jour</a:t>
            </a:r>
            <a:endParaRPr lang="en-US" sz="1100"/>
          </a:p>
        </p:txBody>
      </p:sp>
      <p:sp>
        <p:nvSpPr>
          <p:cNvPr id="2061984834" name="Text 18"/>
          <p:cNvSpPr/>
          <p:nvPr/>
        </p:nvSpPr>
        <p:spPr bwMode="auto">
          <a:xfrm>
            <a:off x="530352" y="440740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Limite globale de 10 bons distribués par jour</a:t>
            </a:r>
            <a:endParaRPr lang="en-US" sz="1000"/>
          </a:p>
        </p:txBody>
      </p:sp>
      <p:sp>
        <p:nvSpPr>
          <p:cNvPr id="117835972" name="Text 21"/>
          <p:cNvSpPr/>
          <p:nvPr/>
        </p:nvSpPr>
        <p:spPr bwMode="auto">
          <a:xfrm>
            <a:off x="5577840" y="44348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 i="1">
                <a:solidFill>
                  <a:srgbClr val="718096"/>
                </a:solidFill>
              </a:rPr>
              <a:t>Roue de la Fortune</a:t>
            </a:r>
            <a:endParaRPr lang="en-US" sz="1000"/>
          </a:p>
        </p:txBody>
      </p:sp>
      <p:grpSp>
        <p:nvGrpSpPr>
          <p:cNvPr id="452928946" name=""/>
          <p:cNvGrpSpPr/>
          <p:nvPr/>
        </p:nvGrpSpPr>
        <p:grpSpPr bwMode="auto">
          <a:xfrm>
            <a:off x="4754880" y="1097280"/>
            <a:ext cx="4023360" cy="3566158"/>
            <a:chOff x="0" y="0"/>
            <a:chExt cx="4023360" cy="3566158"/>
          </a:xfrm>
        </p:grpSpPr>
        <p:sp>
          <p:nvSpPr>
            <p:cNvPr id="1274426028" name="Shape 4"/>
            <p:cNvSpPr/>
            <p:nvPr/>
          </p:nvSpPr>
          <p:spPr bwMode="auto">
            <a:xfrm>
              <a:off x="0" y="0"/>
              <a:ext cx="4023360" cy="35661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8EBF4"/>
              </a:solidFill>
              <a:prstDash val="solid"/>
            </a:ln>
            <a:effectLst>
              <a:outerShdw blurRad="101600" dist="38100" dir="8100000" sx="100000" sy="100000" kx="0" ky="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560570965" name="Shape 5"/>
            <p:cNvSpPr/>
            <p:nvPr/>
          </p:nvSpPr>
          <p:spPr bwMode="auto">
            <a:xfrm>
              <a:off x="0" y="0"/>
              <a:ext cx="4023360" cy="320040"/>
            </a:xfrm>
            <a:prstGeom prst="rect">
              <a:avLst/>
            </a:prstGeom>
            <a:solidFill>
              <a:srgbClr val="E8EBF4"/>
            </a:solidFill>
            <a:ln w="12700">
              <a:solidFill>
                <a:srgbClr val="E8EBF4"/>
              </a:solidFill>
              <a:prstDash val="solid"/>
            </a:ln>
          </p:spPr>
        </p:sp>
        <p:sp>
          <p:nvSpPr>
            <p:cNvPr id="1909253846" name="Text 6"/>
            <p:cNvSpPr/>
            <p:nvPr/>
          </p:nvSpPr>
          <p:spPr bwMode="auto">
            <a:xfrm>
              <a:off x="45718" y="18286"/>
              <a:ext cx="393192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  <a:defRPr/>
              </a:pPr>
              <a:r>
                <a:rPr lang="en-US" sz="800">
                  <a:solidFill>
                    <a:srgbClr val="718096"/>
                  </a:solidFill>
                </a:rPr>
                <a:t>🔒 www.foxtown.ch/rewards</a:t>
              </a:r>
              <a:endParaRPr lang="en-US" sz="800"/>
            </a:p>
          </p:txBody>
        </p:sp>
      </p:grpSp>
      <p:pic>
        <p:nvPicPr>
          <p:cNvPr id="1024551227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4776650" y="1431516"/>
            <a:ext cx="4001589" cy="275726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6">
    <p:bg>
      <p:bgPr shadeToTitle="0">
        <a:solidFill>
          <a:srgbClr val="F8F9F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4815722" name="Shape 0"/>
          <p:cNvSpPr/>
          <p:nvPr/>
        </p:nvSpPr>
        <p:spPr bwMode="auto">
          <a:xfrm>
            <a:off x="0" y="0"/>
            <a:ext cx="9144000" cy="100584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90127890" name="Text 1"/>
          <p:cNvSpPr/>
          <p:nvPr/>
        </p:nvSpPr>
        <p:spPr bwMode="auto"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04 · Plan interactif du centred</a:t>
            </a:r>
            <a:endParaRPr lang="en-US" sz="2000"/>
          </a:p>
        </p:txBody>
      </p:sp>
      <p:pic>
        <p:nvPicPr>
          <p:cNvPr id="1343383641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65760" y="1097280"/>
            <a:ext cx="457200" cy="457200"/>
          </a:xfrm>
          <a:prstGeom prst="rect">
            <a:avLst/>
          </a:prstGeom>
        </p:spPr>
      </p:pic>
      <p:sp>
        <p:nvSpPr>
          <p:cNvPr id="122095805" name="Text 2"/>
          <p:cNvSpPr/>
          <p:nvPr/>
        </p:nvSpPr>
        <p:spPr bwMode="auto">
          <a:xfrm>
            <a:off x="914400" y="11430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1A2B5E"/>
                </a:solidFill>
                <a:latin typeface="Calibri"/>
                <a:ea typeface="Calibri"/>
                <a:cs typeface="Calibri"/>
              </a:rPr>
              <a:t>Une carte interactive intégrée</a:t>
            </a:r>
            <a:endParaRPr lang="en-US" sz="1300"/>
          </a:p>
        </p:txBody>
      </p:sp>
      <p:sp>
        <p:nvSpPr>
          <p:cNvPr id="785585354" name="Text 3"/>
          <p:cNvSpPr/>
          <p:nvPr/>
        </p:nvSpPr>
        <p:spPr bwMode="auto">
          <a:xfrm>
            <a:off x="365760" y="1645920"/>
            <a:ext cx="4114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  <a:defRPr/>
            </a:pPr>
            <a:r>
              <a:rPr lang="en-US" sz="1200">
                <a:solidFill>
                  <a:srgbClr val="2D3748"/>
                </a:solidFill>
                <a:latin typeface="Calibri"/>
                <a:ea typeface="Calibri"/>
                <a:cs typeface="Calibri"/>
              </a:rPr>
              <a:t>Plan visuel de tous les niveaux du centre commercial</a:t>
            </a:r>
            <a:endParaRPr lang="en-US" sz="1200"/>
          </a:p>
          <a:p>
            <a:pPr marL="342900" indent="-342900">
              <a:buSzPct val="100000"/>
              <a:buChar char="•"/>
              <a:defRPr/>
            </a:pPr>
            <a:r>
              <a:rPr lang="en-US" sz="1200">
                <a:solidFill>
                  <a:srgbClr val="2D3748"/>
                </a:solidFill>
                <a:latin typeface="Calibri"/>
                <a:ea typeface="Calibri"/>
                <a:cs typeface="Calibri"/>
              </a:rPr>
              <a:t>Repérage rapide des boutiques par secteur et étage</a:t>
            </a:r>
            <a:endParaRPr lang="en-US" sz="1200"/>
          </a:p>
          <a:p>
            <a:pPr marL="342900" indent="-342900">
              <a:buSzPct val="100000"/>
              <a:buChar char="•"/>
              <a:defRPr/>
            </a:pPr>
            <a:r>
              <a:rPr lang="en-US" sz="1200">
                <a:solidFill>
                  <a:srgbClr val="2D3748"/>
                </a:solidFill>
                <a:latin typeface="Calibri"/>
                <a:ea typeface="Calibri"/>
                <a:cs typeface="Calibri"/>
              </a:rPr>
              <a:t>Indication des entrées, sorties, escalators et ascenseurs</a:t>
            </a:r>
            <a:endParaRPr lang="en-US" sz="1200"/>
          </a:p>
          <a:p>
            <a:pPr marL="342900" indent="-342900">
              <a:buSzPct val="100000"/>
              <a:buChar char="•"/>
              <a:defRPr/>
            </a:pPr>
            <a:r>
              <a:rPr lang="en-US" sz="1200">
                <a:solidFill>
                  <a:srgbClr val="2D3748"/>
                </a:solidFill>
                <a:latin typeface="Calibri"/>
                <a:ea typeface="Calibri"/>
                <a:cs typeface="Calibri"/>
              </a:rPr>
              <a:t>Intégration via image zoomable</a:t>
            </a:r>
            <a:endParaRPr lang="en-US" sz="1200"/>
          </a:p>
        </p:txBody>
      </p:sp>
      <p:grpSp>
        <p:nvGrpSpPr>
          <p:cNvPr id="524508825" name=""/>
          <p:cNvGrpSpPr/>
          <p:nvPr/>
        </p:nvGrpSpPr>
        <p:grpSpPr bwMode="auto">
          <a:xfrm>
            <a:off x="4754880" y="1097280"/>
            <a:ext cx="4023360" cy="3566158"/>
            <a:chOff x="0" y="0"/>
            <a:chExt cx="4023360" cy="3566158"/>
          </a:xfrm>
        </p:grpSpPr>
        <p:sp>
          <p:nvSpPr>
            <p:cNvPr id="1648310309" name="Shape 4"/>
            <p:cNvSpPr/>
            <p:nvPr/>
          </p:nvSpPr>
          <p:spPr bwMode="auto">
            <a:xfrm>
              <a:off x="0" y="0"/>
              <a:ext cx="4023360" cy="35661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8EBF4"/>
              </a:solidFill>
              <a:prstDash val="solid"/>
            </a:ln>
            <a:effectLst>
              <a:outerShdw blurRad="101600" dist="38100" dir="8100000" sx="100000" sy="100000" kx="0" ky="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1925811349" name="Shape 5"/>
            <p:cNvSpPr/>
            <p:nvPr/>
          </p:nvSpPr>
          <p:spPr bwMode="auto">
            <a:xfrm>
              <a:off x="0" y="0"/>
              <a:ext cx="4023360" cy="320040"/>
            </a:xfrm>
            <a:prstGeom prst="rect">
              <a:avLst/>
            </a:prstGeom>
            <a:solidFill>
              <a:srgbClr val="E8EBF4"/>
            </a:solidFill>
            <a:ln w="12700">
              <a:solidFill>
                <a:srgbClr val="E8EBF4"/>
              </a:solidFill>
              <a:prstDash val="solid"/>
            </a:ln>
          </p:spPr>
        </p:sp>
        <p:sp>
          <p:nvSpPr>
            <p:cNvPr id="1114892240" name="Text 6"/>
            <p:cNvSpPr/>
            <p:nvPr/>
          </p:nvSpPr>
          <p:spPr bwMode="auto">
            <a:xfrm>
              <a:off x="45718" y="18286"/>
              <a:ext cx="393192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  <a:defRPr/>
              </a:pPr>
              <a:r>
                <a:rPr lang="en-US" sz="800">
                  <a:solidFill>
                    <a:srgbClr val="718096"/>
                  </a:solidFill>
                </a:rPr>
                <a:t>🔒 www.foxtown.ch/map</a:t>
              </a:r>
              <a:endParaRPr lang="en-US" sz="800"/>
            </a:p>
          </p:txBody>
        </p:sp>
      </p:grpSp>
      <p:pic>
        <p:nvPicPr>
          <p:cNvPr id="1110274627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4800600" y="1512887"/>
            <a:ext cx="3886200" cy="19849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7">
    <p:bg>
      <p:bgPr shadeToTitle="0">
        <a:solidFill>
          <a:srgbClr val="F8F9F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6200215" name="Shape 0"/>
          <p:cNvSpPr/>
          <p:nvPr/>
        </p:nvSpPr>
        <p:spPr bwMode="auto">
          <a:xfrm>
            <a:off x="0" y="0"/>
            <a:ext cx="9144000" cy="100584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12693122" name="Text 1"/>
          <p:cNvSpPr/>
          <p:nvPr/>
        </p:nvSpPr>
        <p:spPr bwMode="auto"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05 · Gestion du contenu (CMS)</a:t>
            </a:r>
            <a:endParaRPr lang="en-US" sz="2000"/>
          </a:p>
        </p:txBody>
      </p:sp>
      <p:sp>
        <p:nvSpPr>
          <p:cNvPr id="1007204838" name="Text 2"/>
          <p:cNvSpPr/>
          <p:nvPr/>
        </p:nvSpPr>
        <p:spPr bwMode="auto">
          <a:xfrm>
            <a:off x="365760" y="10972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1A2B5E"/>
                </a:solidFill>
                <a:latin typeface="Georgia"/>
                <a:ea typeface="Georgia"/>
                <a:cs typeface="Georgia"/>
              </a:rPr>
              <a:t>Implementation Personnalisée</a:t>
            </a:r>
            <a:endParaRPr lang="en-US" sz="1500"/>
          </a:p>
        </p:txBody>
      </p:sp>
      <p:sp>
        <p:nvSpPr>
          <p:cNvPr id="1453843284" name="Text 3"/>
          <p:cNvSpPr/>
          <p:nvPr/>
        </p:nvSpPr>
        <p:spPr bwMode="auto">
          <a:xfrm>
            <a:off x="365760" y="1508759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2D3748"/>
                </a:solidFill>
                <a:latin typeface="Calibri"/>
                <a:ea typeface="Calibri"/>
                <a:cs typeface="Calibri"/>
              </a:rPr>
              <a:t>Notre implementation permet à vos collaborateurs de mettre à jour</a:t>
            </a:r>
            <a:endParaRPr lang="en-US" sz="1200">
              <a:solidFill>
                <a:srgbClr val="2D3748"/>
              </a:solidFill>
              <a:latin typeface="Calibri"/>
              <a:ea typeface="Calibri"/>
              <a:cs typeface="Calibri"/>
            </a:endParaRPr>
          </a:p>
          <a:p>
            <a:pPr marL="0" indent="0">
              <a:buNone/>
              <a:defRPr/>
            </a:pPr>
            <a:r>
              <a:rPr lang="en-US" sz="1200">
                <a:solidFill>
                  <a:srgbClr val="2D3748"/>
                </a:solidFill>
                <a:latin typeface="Calibri"/>
                <a:ea typeface="Calibri"/>
                <a:cs typeface="Calibri"/>
              </a:rPr>
              <a:t>le contenu du site sans aucune connaissance technique.</a:t>
            </a:r>
            <a:endParaRPr lang="en-US" sz="1200">
              <a:solidFill>
                <a:srgbClr val="2D3748"/>
              </a:solidFill>
              <a:latin typeface="Calibri"/>
              <a:ea typeface="Calibri"/>
              <a:cs typeface="Calibri"/>
            </a:endParaRPr>
          </a:p>
        </p:txBody>
      </p:sp>
      <p:grpSp>
        <p:nvGrpSpPr>
          <p:cNvPr id="629041568" name=""/>
          <p:cNvGrpSpPr/>
          <p:nvPr/>
        </p:nvGrpSpPr>
        <p:grpSpPr bwMode="auto">
          <a:xfrm>
            <a:off x="4754880" y="1102375"/>
            <a:ext cx="4023360" cy="3566158"/>
            <a:chOff x="0" y="0"/>
            <a:chExt cx="4023360" cy="3566158"/>
          </a:xfrm>
        </p:grpSpPr>
        <p:sp>
          <p:nvSpPr>
            <p:cNvPr id="1169328407" name="Shape 4"/>
            <p:cNvSpPr/>
            <p:nvPr/>
          </p:nvSpPr>
          <p:spPr bwMode="auto">
            <a:xfrm>
              <a:off x="0" y="0"/>
              <a:ext cx="4023360" cy="35661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8EBF4"/>
              </a:solidFill>
              <a:prstDash val="solid"/>
            </a:ln>
            <a:effectLst>
              <a:outerShdw blurRad="101600" dist="38100" dir="8100000" sx="100000" sy="100000" kx="0" ky="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1807284025" name="Shape 5"/>
            <p:cNvSpPr/>
            <p:nvPr/>
          </p:nvSpPr>
          <p:spPr bwMode="auto">
            <a:xfrm>
              <a:off x="0" y="0"/>
              <a:ext cx="4023360" cy="320040"/>
            </a:xfrm>
            <a:prstGeom prst="rect">
              <a:avLst/>
            </a:prstGeom>
            <a:solidFill>
              <a:srgbClr val="E8EBF4"/>
            </a:solidFill>
            <a:ln w="12700">
              <a:solidFill>
                <a:srgbClr val="E8EBF4"/>
              </a:solidFill>
              <a:prstDash val="solid"/>
            </a:ln>
          </p:spPr>
        </p:sp>
        <p:sp>
          <p:nvSpPr>
            <p:cNvPr id="1888579343" name="Text 6"/>
            <p:cNvSpPr/>
            <p:nvPr/>
          </p:nvSpPr>
          <p:spPr bwMode="auto">
            <a:xfrm>
              <a:off x="45718" y="18286"/>
              <a:ext cx="393192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  <a:defRPr/>
              </a:pPr>
              <a:r>
                <a:rPr lang="en-US" sz="800">
                  <a:solidFill>
                    <a:srgbClr val="718096"/>
                  </a:solidFill>
                </a:rPr>
                <a:t>🔒 www.foxtown.ch/admin/content</a:t>
              </a:r>
              <a:endParaRPr lang="en-US" sz="800"/>
            </a:p>
          </p:txBody>
        </p:sp>
      </p:grpSp>
      <p:pic>
        <p:nvPicPr>
          <p:cNvPr id="1839763241" name=""/>
          <p:cNvPicPr>
            <a:picLocks noChangeAspect="1"/>
          </p:cNvPicPr>
          <p:nvPr/>
        </p:nvPicPr>
        <p:blipFill rotWithShape="1">
          <a:blip r:embed="rId3"/>
          <a:srcRect l="1674" t="0" r="1729" b="0"/>
          <a:stretch/>
        </p:blipFill>
        <p:spPr bwMode="auto">
          <a:xfrm flipH="0" flipV="0">
            <a:off x="4754880" y="1445078"/>
            <a:ext cx="3926941" cy="2646135"/>
          </a:xfrm>
          <a:prstGeom prst="rect">
            <a:avLst/>
          </a:prstGeom>
        </p:spPr>
      </p:pic>
      <p:grpSp>
        <p:nvGrpSpPr>
          <p:cNvPr id="1439498418" name=""/>
          <p:cNvGrpSpPr/>
          <p:nvPr/>
        </p:nvGrpSpPr>
        <p:grpSpPr bwMode="auto">
          <a:xfrm>
            <a:off x="964111" y="2121262"/>
            <a:ext cx="2743200" cy="2560320"/>
            <a:chOff x="0" y="0"/>
            <a:chExt cx="2743200" cy="2560320"/>
          </a:xfrm>
        </p:grpSpPr>
        <p:sp>
          <p:nvSpPr>
            <p:cNvPr id="1845402682" name="Shape 4"/>
            <p:cNvSpPr/>
            <p:nvPr/>
          </p:nvSpPr>
          <p:spPr bwMode="auto">
            <a:xfrm>
              <a:off x="0" y="0"/>
              <a:ext cx="2743200" cy="256032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8EBF4"/>
              </a:solidFill>
              <a:prstDash val="solid"/>
            </a:ln>
            <a:effectLst>
              <a:outerShdw blurRad="76200" dist="25400" dir="8100000" sx="100000" sy="100000" kx="0" ky="0" algn="bl" rotWithShape="0">
                <a:srgbClr val="000000">
                  <a:alpha val="8000"/>
                </a:srgbClr>
              </a:outerShdw>
            </a:effectLst>
          </p:spPr>
          <p:txBody>
            <a:bodyPr anchor="ctr"/>
            <a:p>
              <a:pPr algn="ctr">
                <a:defRPr/>
              </a:pPr>
              <a:endParaRPr/>
            </a:p>
          </p:txBody>
        </p:sp>
        <p:sp>
          <p:nvSpPr>
            <p:cNvPr id="697457219" name="Shape 5"/>
            <p:cNvSpPr/>
            <p:nvPr/>
          </p:nvSpPr>
          <p:spPr bwMode="auto">
            <a:xfrm>
              <a:off x="0" y="0"/>
              <a:ext cx="2743200" cy="457200"/>
            </a:xfrm>
            <a:prstGeom prst="rect">
              <a:avLst/>
            </a:prstGeom>
            <a:solidFill>
              <a:srgbClr val="1A2B5E"/>
            </a:solidFill>
            <a:ln w="12700">
              <a:solidFill>
                <a:srgbClr val="1A2B5E"/>
              </a:solidFill>
              <a:prstDash val="solid"/>
            </a:ln>
          </p:spPr>
        </p:sp>
        <p:sp>
          <p:nvSpPr>
            <p:cNvPr id="1285595160" name="Text 6"/>
            <p:cNvSpPr/>
            <p:nvPr/>
          </p:nvSpPr>
          <p:spPr bwMode="auto">
            <a:xfrm>
              <a:off x="91439" y="0"/>
              <a:ext cx="256032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  <a:defRPr/>
              </a:pPr>
              <a:r>
                <a:rPr lang="en-US" sz="1200" b="1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Interface intuitive</a:t>
              </a:r>
              <a:endParaRPr lang="en-US" sz="1200"/>
            </a:p>
          </p:txBody>
        </p:sp>
        <p:sp>
          <p:nvSpPr>
            <p:cNvPr id="2085230618" name="Text 7"/>
            <p:cNvSpPr/>
            <p:nvPr/>
          </p:nvSpPr>
          <p:spPr bwMode="auto">
            <a:xfrm>
              <a:off x="109728" y="530352"/>
              <a:ext cx="2523744" cy="192024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  <a:defRPr/>
              </a:pPr>
              <a:r>
                <a:rPr lang="en-US" sz="1100">
                  <a:solidFill>
                    <a:srgbClr val="2D3748"/>
                  </a:solidFill>
                  <a:latin typeface="Calibri"/>
                  <a:ea typeface="Calibri"/>
                  <a:cs typeface="Calibri"/>
                </a:rPr>
                <a:t>Tableau de bord simple et clair. Ajout/modification de boutiques en quelques clics et sans prise de tête.</a:t>
              </a:r>
              <a:br>
                <a:rPr lang="en-US" sz="1100">
                  <a:solidFill>
                    <a:srgbClr val="2D3748"/>
                  </a:solidFill>
                  <a:latin typeface="Calibri"/>
                  <a:ea typeface="Calibri"/>
                  <a:cs typeface="Calibri"/>
                </a:rPr>
              </a:br>
              <a:br>
                <a:rPr lang="en-US" sz="1100">
                  <a:solidFill>
                    <a:srgbClr val="2D3748"/>
                  </a:solidFill>
                  <a:latin typeface="Calibri"/>
                  <a:ea typeface="Calibri"/>
                  <a:cs typeface="Calibri"/>
                </a:rPr>
              </a:br>
              <a:r>
                <a:rPr lang="en-US" sz="1100">
                  <a:solidFill>
                    <a:srgbClr val="2D3748"/>
                  </a:solidFill>
                  <a:latin typeface="Calibri"/>
                  <a:ea typeface="Calibri"/>
                  <a:cs typeface="Calibri"/>
                </a:rPr>
                <a:t>Notre implementation ne demande aucune expertise. Juste un compte administrateurs et deux clics.</a:t>
              </a:r>
              <a:endParaRPr lang="en-US" sz="110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7">
    <p:bg>
      <p:bgPr shadeToTitle="0">
        <a:solidFill>
          <a:srgbClr val="F8F9F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1044477" name="Shape 0"/>
          <p:cNvSpPr/>
          <p:nvPr/>
        </p:nvSpPr>
        <p:spPr bwMode="auto">
          <a:xfrm>
            <a:off x="0" y="0"/>
            <a:ext cx="9144000" cy="100584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217492710" name="Text 1"/>
          <p:cNvSpPr/>
          <p:nvPr/>
        </p:nvSpPr>
        <p:spPr bwMode="auto"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05 · Gestion du contenu (CMS)</a:t>
            </a:r>
            <a:endParaRPr lang="en-US" sz="2000"/>
          </a:p>
        </p:txBody>
      </p:sp>
      <p:sp>
        <p:nvSpPr>
          <p:cNvPr id="347238748" name="Text 2"/>
          <p:cNvSpPr/>
          <p:nvPr/>
        </p:nvSpPr>
        <p:spPr bwMode="auto">
          <a:xfrm>
            <a:off x="365760" y="10972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1A2B5E"/>
                </a:solidFill>
                <a:latin typeface="Georgia"/>
                <a:ea typeface="Georgia"/>
                <a:cs typeface="Georgia"/>
              </a:rPr>
              <a:t>Implementation Personnalisée</a:t>
            </a:r>
            <a:endParaRPr lang="en-US" sz="1500"/>
          </a:p>
        </p:txBody>
      </p:sp>
      <p:sp>
        <p:nvSpPr>
          <p:cNvPr id="234192942" name="Text 3"/>
          <p:cNvSpPr/>
          <p:nvPr/>
        </p:nvSpPr>
        <p:spPr bwMode="auto">
          <a:xfrm>
            <a:off x="365760" y="1508759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2D3748"/>
                </a:solidFill>
                <a:latin typeface="Calibri"/>
                <a:ea typeface="Calibri"/>
                <a:cs typeface="Calibri"/>
              </a:rPr>
              <a:t>Notre implementation permet à vos collaborateurs de mettre à jour</a:t>
            </a:r>
            <a:endParaRPr lang="en-US" sz="1200">
              <a:solidFill>
                <a:srgbClr val="2D3748"/>
              </a:solidFill>
              <a:latin typeface="Calibri"/>
              <a:ea typeface="Calibri"/>
              <a:cs typeface="Calibri"/>
            </a:endParaRPr>
          </a:p>
          <a:p>
            <a:pPr marL="0" indent="0">
              <a:buNone/>
              <a:defRPr/>
            </a:pPr>
            <a:r>
              <a:rPr lang="en-US" sz="1200">
                <a:solidFill>
                  <a:srgbClr val="2D3748"/>
                </a:solidFill>
                <a:latin typeface="Calibri"/>
                <a:ea typeface="Calibri"/>
                <a:cs typeface="Calibri"/>
              </a:rPr>
              <a:t>le contenu du site sans aucune connaissance technique.</a:t>
            </a:r>
            <a:endParaRPr lang="en-US" sz="1200">
              <a:solidFill>
                <a:srgbClr val="2D3748"/>
              </a:solidFill>
              <a:latin typeface="Calibri"/>
              <a:ea typeface="Calibri"/>
              <a:cs typeface="Calibri"/>
            </a:endParaRPr>
          </a:p>
        </p:txBody>
      </p:sp>
      <p:grpSp>
        <p:nvGrpSpPr>
          <p:cNvPr id="652379161" name=""/>
          <p:cNvGrpSpPr/>
          <p:nvPr/>
        </p:nvGrpSpPr>
        <p:grpSpPr bwMode="auto">
          <a:xfrm>
            <a:off x="4754880" y="1102375"/>
            <a:ext cx="4023360" cy="3566158"/>
            <a:chOff x="0" y="0"/>
            <a:chExt cx="4023360" cy="3566158"/>
          </a:xfrm>
        </p:grpSpPr>
        <p:sp>
          <p:nvSpPr>
            <p:cNvPr id="1701451245" name="Shape 4"/>
            <p:cNvSpPr/>
            <p:nvPr/>
          </p:nvSpPr>
          <p:spPr bwMode="auto">
            <a:xfrm>
              <a:off x="0" y="0"/>
              <a:ext cx="4023360" cy="35661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8EBF4"/>
              </a:solidFill>
              <a:prstDash val="solid"/>
            </a:ln>
            <a:effectLst>
              <a:outerShdw blurRad="101600" dist="38100" dir="8100000" sx="100000" sy="100000" kx="0" ky="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1392591499" name="Shape 5"/>
            <p:cNvSpPr/>
            <p:nvPr/>
          </p:nvSpPr>
          <p:spPr bwMode="auto">
            <a:xfrm>
              <a:off x="0" y="0"/>
              <a:ext cx="4023360" cy="320040"/>
            </a:xfrm>
            <a:prstGeom prst="rect">
              <a:avLst/>
            </a:prstGeom>
            <a:solidFill>
              <a:srgbClr val="E8EBF4"/>
            </a:solidFill>
            <a:ln w="12700">
              <a:solidFill>
                <a:srgbClr val="E8EBF4"/>
              </a:solidFill>
              <a:prstDash val="solid"/>
            </a:ln>
          </p:spPr>
        </p:sp>
        <p:sp>
          <p:nvSpPr>
            <p:cNvPr id="351800148" name="Text 6"/>
            <p:cNvSpPr/>
            <p:nvPr/>
          </p:nvSpPr>
          <p:spPr bwMode="auto">
            <a:xfrm>
              <a:off x="45718" y="18286"/>
              <a:ext cx="393192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  <a:defRPr/>
              </a:pPr>
              <a:r>
                <a:rPr lang="en-US" sz="800">
                  <a:solidFill>
                    <a:srgbClr val="718096"/>
                  </a:solidFill>
                </a:rPr>
                <a:t>🔒 www.foxtown.ch/admin/game-rules</a:t>
              </a:r>
              <a:endParaRPr lang="en-US" sz="800"/>
            </a:p>
          </p:txBody>
        </p:sp>
      </p:grpSp>
      <p:pic>
        <p:nvPicPr>
          <p:cNvPr id="567112766" name=""/>
          <p:cNvPicPr>
            <a:picLocks noChangeAspect="1"/>
          </p:cNvPicPr>
          <p:nvPr/>
        </p:nvPicPr>
        <p:blipFill rotWithShape="1">
          <a:blip r:embed="rId3"/>
          <a:srcRect l="1674" t="0" r="1729" b="0"/>
          <a:stretch/>
        </p:blipFill>
        <p:spPr bwMode="auto">
          <a:xfrm flipH="0" flipV="0">
            <a:off x="4754880" y="1445078"/>
            <a:ext cx="3926941" cy="2646135"/>
          </a:xfrm>
          <a:prstGeom prst="rect">
            <a:avLst/>
          </a:prstGeom>
        </p:spPr>
      </p:pic>
      <p:grpSp>
        <p:nvGrpSpPr>
          <p:cNvPr id="1033717647" name=""/>
          <p:cNvGrpSpPr/>
          <p:nvPr/>
        </p:nvGrpSpPr>
        <p:grpSpPr bwMode="auto">
          <a:xfrm>
            <a:off x="964111" y="2121262"/>
            <a:ext cx="2743200" cy="2560320"/>
            <a:chOff x="0" y="0"/>
            <a:chExt cx="2743200" cy="2560320"/>
          </a:xfrm>
        </p:grpSpPr>
        <p:sp>
          <p:nvSpPr>
            <p:cNvPr id="356917341" name="Shape 4"/>
            <p:cNvSpPr/>
            <p:nvPr/>
          </p:nvSpPr>
          <p:spPr bwMode="auto">
            <a:xfrm>
              <a:off x="0" y="0"/>
              <a:ext cx="2743200" cy="256032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8EBF4"/>
              </a:solidFill>
              <a:prstDash val="solid"/>
            </a:ln>
            <a:effectLst>
              <a:outerShdw blurRad="76200" dist="25400" dir="8100000" sx="100000" sy="100000" kx="0" ky="0" algn="bl" rotWithShape="0">
                <a:srgbClr val="000000">
                  <a:alpha val="8000"/>
                </a:srgbClr>
              </a:outerShdw>
            </a:effectLst>
          </p:spPr>
          <p:txBody>
            <a:bodyPr anchor="ctr"/>
            <a:p>
              <a:pPr algn="ctr">
                <a:defRPr/>
              </a:pPr>
              <a:endParaRPr/>
            </a:p>
          </p:txBody>
        </p:sp>
        <p:sp>
          <p:nvSpPr>
            <p:cNvPr id="813153882" name="Shape 5"/>
            <p:cNvSpPr/>
            <p:nvPr/>
          </p:nvSpPr>
          <p:spPr bwMode="auto">
            <a:xfrm>
              <a:off x="0" y="0"/>
              <a:ext cx="2743200" cy="457200"/>
            </a:xfrm>
            <a:prstGeom prst="rect">
              <a:avLst/>
            </a:prstGeom>
            <a:solidFill>
              <a:srgbClr val="1A2B5E"/>
            </a:solidFill>
            <a:ln w="12700">
              <a:solidFill>
                <a:srgbClr val="1A2B5E"/>
              </a:solidFill>
              <a:prstDash val="solid"/>
            </a:ln>
          </p:spPr>
        </p:sp>
        <p:sp>
          <p:nvSpPr>
            <p:cNvPr id="2085470396" name="Text 6"/>
            <p:cNvSpPr/>
            <p:nvPr/>
          </p:nvSpPr>
          <p:spPr bwMode="auto">
            <a:xfrm>
              <a:off x="91439" y="0"/>
              <a:ext cx="256032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  <a:defRPr/>
              </a:pPr>
              <a:r>
                <a:rPr lang="en-US" sz="1200" b="1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Interface intuitive</a:t>
              </a:r>
              <a:endParaRPr lang="en-US" sz="1200"/>
            </a:p>
          </p:txBody>
        </p:sp>
        <p:sp>
          <p:nvSpPr>
            <p:cNvPr id="1770346658" name="Text 7"/>
            <p:cNvSpPr/>
            <p:nvPr/>
          </p:nvSpPr>
          <p:spPr bwMode="auto">
            <a:xfrm>
              <a:off x="109728" y="530352"/>
              <a:ext cx="2523744" cy="192024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  <a:defRPr/>
              </a:pPr>
              <a:r>
                <a:rPr lang="en-US" sz="1100">
                  <a:solidFill>
                    <a:srgbClr val="2D3748"/>
                  </a:solidFill>
                  <a:latin typeface="Calibri"/>
                  <a:ea typeface="Calibri"/>
                  <a:cs typeface="Calibri"/>
                </a:rPr>
                <a:t>Tableau de bord simple et clair. Ajout/modification de boutiques en quelques clics et sans prise de tête.</a:t>
              </a:r>
              <a:br>
                <a:rPr lang="en-US" sz="1100">
                  <a:solidFill>
                    <a:srgbClr val="2D3748"/>
                  </a:solidFill>
                  <a:latin typeface="Calibri"/>
                  <a:ea typeface="Calibri"/>
                  <a:cs typeface="Calibri"/>
                </a:rPr>
              </a:br>
              <a:br>
                <a:rPr lang="en-US" sz="1100">
                  <a:solidFill>
                    <a:srgbClr val="2D3748"/>
                  </a:solidFill>
                  <a:latin typeface="Calibri"/>
                  <a:ea typeface="Calibri"/>
                  <a:cs typeface="Calibri"/>
                </a:rPr>
              </a:br>
              <a:r>
                <a:rPr lang="en-US" sz="1100">
                  <a:solidFill>
                    <a:srgbClr val="2D3748"/>
                  </a:solidFill>
                  <a:latin typeface="Calibri"/>
                  <a:ea typeface="Calibri"/>
                  <a:cs typeface="Calibri"/>
                </a:rPr>
                <a:t>Notre implementation ne demande aucune expertise. Juste un compte administrateurs et deux clics.</a:t>
              </a:r>
              <a:endParaRPr lang="en-US" sz="1100"/>
            </a:p>
          </p:txBody>
        </p:sp>
      </p:grpSp>
      <p:pic>
        <p:nvPicPr>
          <p:cNvPr id="112712584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4754880" y="1393734"/>
            <a:ext cx="4013119" cy="333905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8">
    <p:bg>
      <p:bgPr shadeToTitle="0">
        <a:solidFill>
          <a:srgbClr val="1A2B5E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5214976" name="Shape 0"/>
          <p:cNvSpPr/>
          <p:nvPr/>
        </p:nvSpPr>
        <p:spPr bwMode="auto">
          <a:xfrm>
            <a:off x="0" y="0"/>
            <a:ext cx="9144000" cy="1005840"/>
          </a:xfrm>
          <a:prstGeom prst="rect">
            <a:avLst/>
          </a:prstGeom>
          <a:solidFill>
            <a:srgbClr val="243572"/>
          </a:solidFill>
          <a:ln w="12700">
            <a:solidFill>
              <a:srgbClr val="243572"/>
            </a:solidFill>
            <a:prstDash val="solid"/>
          </a:ln>
        </p:spPr>
      </p:sp>
      <p:sp>
        <p:nvSpPr>
          <p:cNvPr id="68785956" name="Text 1"/>
          <p:cNvSpPr/>
          <p:nvPr/>
        </p:nvSpPr>
        <p:spPr bwMode="auto"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F5A623"/>
                </a:solidFill>
                <a:latin typeface="Calibri"/>
                <a:ea typeface="Calibri"/>
                <a:cs typeface="Calibri"/>
              </a:rPr>
              <a:t>06 · Disponibilité des parkings</a:t>
            </a:r>
            <a:endParaRPr lang="en-US" sz="2000"/>
          </a:p>
        </p:txBody>
      </p:sp>
      <p:pic>
        <p:nvPicPr>
          <p:cNvPr id="245302752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65760" y="1097280"/>
            <a:ext cx="457200" cy="457200"/>
          </a:xfrm>
          <a:prstGeom prst="rect">
            <a:avLst/>
          </a:prstGeom>
        </p:spPr>
      </p:pic>
      <p:sp>
        <p:nvSpPr>
          <p:cNvPr id="1755675839" name="Text 2"/>
          <p:cNvSpPr/>
          <p:nvPr/>
        </p:nvSpPr>
        <p:spPr bwMode="auto">
          <a:xfrm>
            <a:off x="914400" y="1124712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FFFFFF"/>
                </a:solidFill>
              </a:rPr>
              <a:t>Affichage en temps réel des places disponibles</a:t>
            </a:r>
            <a:endParaRPr lang="en-US" sz="1400"/>
          </a:p>
        </p:txBody>
      </p:sp>
      <p:sp>
        <p:nvSpPr>
          <p:cNvPr id="1101152285" name="Shape 7"/>
          <p:cNvSpPr/>
          <p:nvPr/>
        </p:nvSpPr>
        <p:spPr bwMode="auto">
          <a:xfrm>
            <a:off x="548640" y="3383280"/>
            <a:ext cx="2377440" cy="18288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263337168" name="Shape 14"/>
          <p:cNvSpPr/>
          <p:nvPr/>
        </p:nvSpPr>
        <p:spPr bwMode="auto">
          <a:xfrm>
            <a:off x="3474720" y="3383280"/>
            <a:ext cx="2377440" cy="18288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1227240882" name="Shape 21"/>
          <p:cNvSpPr/>
          <p:nvPr/>
        </p:nvSpPr>
        <p:spPr bwMode="auto">
          <a:xfrm>
            <a:off x="6400800" y="3383280"/>
            <a:ext cx="2377440" cy="18288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1079763685" name="Text 24"/>
          <p:cNvSpPr/>
          <p:nvPr/>
        </p:nvSpPr>
        <p:spPr bwMode="auto">
          <a:xfrm>
            <a:off x="365760" y="4251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i="1">
                <a:solidFill>
                  <a:srgbClr val="718096"/>
                </a:solidFill>
                <a:latin typeface="Calibri"/>
                <a:ea typeface="Calibri"/>
                <a:cs typeface="Calibri"/>
              </a:rPr>
              <a:t>Le temps de rafraichisement est configurable</a:t>
            </a:r>
            <a:r>
              <a:rPr lang="en-US" sz="1100" i="1">
                <a:solidFill>
                  <a:srgbClr val="718096"/>
                </a:solidFill>
                <a:latin typeface="Calibri"/>
                <a:ea typeface="Calibri"/>
                <a:cs typeface="Calibri"/>
              </a:rPr>
              <a:t>.</a:t>
            </a:r>
            <a:endParaRPr lang="en-US" sz="1100" i="1">
              <a:solidFill>
                <a:srgbClr val="718096"/>
              </a:solidFill>
              <a:latin typeface="Calibri"/>
              <a:ea typeface="Calibri"/>
              <a:cs typeface="Calibri"/>
            </a:endParaRPr>
          </a:p>
        </p:txBody>
      </p:sp>
      <p:grpSp>
        <p:nvGrpSpPr>
          <p:cNvPr id="1434740994" name=""/>
          <p:cNvGrpSpPr/>
          <p:nvPr/>
        </p:nvGrpSpPr>
        <p:grpSpPr bwMode="auto">
          <a:xfrm>
            <a:off x="4754880" y="1097280"/>
            <a:ext cx="4023360" cy="3566158"/>
            <a:chOff x="0" y="0"/>
            <a:chExt cx="4023360" cy="3566158"/>
          </a:xfrm>
        </p:grpSpPr>
        <p:sp>
          <p:nvSpPr>
            <p:cNvPr id="1469253163" name="Shape 4"/>
            <p:cNvSpPr/>
            <p:nvPr/>
          </p:nvSpPr>
          <p:spPr bwMode="auto">
            <a:xfrm>
              <a:off x="0" y="0"/>
              <a:ext cx="4023360" cy="35661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8EBF4"/>
              </a:solidFill>
              <a:prstDash val="solid"/>
            </a:ln>
            <a:effectLst>
              <a:outerShdw blurRad="101600" dist="38100" dir="8100000" sx="100000" sy="100000" kx="0" ky="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1442354059" name="Shape 5"/>
            <p:cNvSpPr/>
            <p:nvPr/>
          </p:nvSpPr>
          <p:spPr bwMode="auto">
            <a:xfrm>
              <a:off x="0" y="0"/>
              <a:ext cx="4023360" cy="320040"/>
            </a:xfrm>
            <a:prstGeom prst="rect">
              <a:avLst/>
            </a:prstGeom>
            <a:solidFill>
              <a:srgbClr val="E8EBF4"/>
            </a:solidFill>
            <a:ln w="12700">
              <a:solidFill>
                <a:srgbClr val="E8EBF4"/>
              </a:solidFill>
              <a:prstDash val="solid"/>
            </a:ln>
          </p:spPr>
        </p:sp>
        <p:sp>
          <p:nvSpPr>
            <p:cNvPr id="2121041509" name="Text 6"/>
            <p:cNvSpPr/>
            <p:nvPr/>
          </p:nvSpPr>
          <p:spPr bwMode="auto">
            <a:xfrm>
              <a:off x="45718" y="18286"/>
              <a:ext cx="393192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  <a:defRPr/>
              </a:pPr>
              <a:r>
                <a:rPr lang="en-US" sz="800">
                  <a:solidFill>
                    <a:srgbClr val="718096"/>
                  </a:solidFill>
                </a:rPr>
                <a:t>🔒 www.foxtown.ch/stores</a:t>
              </a:r>
              <a:r>
                <a:rPr lang="en-US" sz="800" b="0" i="0" u="none" strike="noStrike" cap="none" spc="0">
                  <a:solidFill>
                    <a:srgbClr val="718096"/>
                  </a:solidFill>
                  <a:latin typeface="Calibri"/>
                  <a:ea typeface="Arial"/>
                  <a:cs typeface="Arial"/>
                </a:rPr>
                <a:t>/polo-ralph-lauren</a:t>
              </a:r>
              <a:endParaRPr lang="en-US" sz="800"/>
            </a:p>
          </p:txBody>
        </p:sp>
      </p:grpSp>
      <p:pic>
        <p:nvPicPr>
          <p:cNvPr id="1500068492" name=""/>
          <p:cNvPicPr>
            <a:picLocks noChangeAspect="1"/>
          </p:cNvPicPr>
          <p:nvPr/>
        </p:nvPicPr>
        <p:blipFill rotWithShape="1">
          <a:blip r:embed="rId4"/>
          <a:srcRect l="0" t="0" r="0" b="19377"/>
          <a:stretch/>
        </p:blipFill>
        <p:spPr bwMode="auto">
          <a:xfrm flipH="0" flipV="0">
            <a:off x="4793571" y="1420668"/>
            <a:ext cx="3984667" cy="2956295"/>
          </a:xfrm>
          <a:prstGeom prst="rect">
            <a:avLst/>
          </a:prstGeom>
        </p:spPr>
      </p:pic>
      <p:sp>
        <p:nvSpPr>
          <p:cNvPr id="1320565250" name="Shape 3"/>
          <p:cNvSpPr/>
          <p:nvPr/>
        </p:nvSpPr>
        <p:spPr bwMode="auto">
          <a:xfrm flipH="0" flipV="0">
            <a:off x="365760" y="1691640"/>
            <a:ext cx="3607989" cy="685800"/>
          </a:xfrm>
          <a:prstGeom prst="rect">
            <a:avLst/>
          </a:prstGeom>
          <a:solidFill>
            <a:srgbClr val="243572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27716243" name="Shape 4"/>
          <p:cNvSpPr/>
          <p:nvPr/>
        </p:nvSpPr>
        <p:spPr bwMode="auto">
          <a:xfrm>
            <a:off x="365760" y="1691640"/>
            <a:ext cx="73152" cy="6858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55373501" name="Shape 7"/>
          <p:cNvSpPr/>
          <p:nvPr/>
        </p:nvSpPr>
        <p:spPr bwMode="auto">
          <a:xfrm flipH="0" flipV="0">
            <a:off x="365758" y="2487166"/>
            <a:ext cx="3607989" cy="685800"/>
          </a:xfrm>
          <a:prstGeom prst="rect">
            <a:avLst/>
          </a:prstGeom>
          <a:solidFill>
            <a:srgbClr val="243572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73857281" name="Shape 8"/>
          <p:cNvSpPr/>
          <p:nvPr/>
        </p:nvSpPr>
        <p:spPr bwMode="auto">
          <a:xfrm>
            <a:off x="365760" y="2487167"/>
            <a:ext cx="73152" cy="6858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37404424" name="Shape 11"/>
          <p:cNvSpPr/>
          <p:nvPr/>
        </p:nvSpPr>
        <p:spPr bwMode="auto">
          <a:xfrm flipH="0" flipV="0">
            <a:off x="365758" y="3282694"/>
            <a:ext cx="3607989" cy="685800"/>
          </a:xfrm>
          <a:prstGeom prst="rect">
            <a:avLst/>
          </a:prstGeom>
          <a:solidFill>
            <a:srgbClr val="243572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447229722" name="Shape 12"/>
          <p:cNvSpPr/>
          <p:nvPr/>
        </p:nvSpPr>
        <p:spPr bwMode="auto">
          <a:xfrm>
            <a:off x="365760" y="3282696"/>
            <a:ext cx="73152" cy="6858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85606936" name="Text 5"/>
          <p:cNvSpPr/>
          <p:nvPr/>
        </p:nvSpPr>
        <p:spPr bwMode="auto">
          <a:xfrm>
            <a:off x="530352" y="176479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endParaRPr lang="en-US" sz="1100"/>
          </a:p>
        </p:txBody>
      </p:sp>
      <p:sp>
        <p:nvSpPr>
          <p:cNvPr id="1903170441" name="Text 6"/>
          <p:cNvSpPr/>
          <p:nvPr/>
        </p:nvSpPr>
        <p:spPr bwMode="auto">
          <a:xfrm>
            <a:off x="530352" y="202082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Les données sont mises à jour toutes les 5 minutes*</a:t>
            </a:r>
            <a:endParaRPr lang="en-US" sz="1000"/>
          </a:p>
        </p:txBody>
      </p:sp>
      <p:sp>
        <p:nvSpPr>
          <p:cNvPr id="682441476" name="Text 5"/>
          <p:cNvSpPr/>
          <p:nvPr/>
        </p:nvSpPr>
        <p:spPr bwMode="auto">
          <a:xfrm>
            <a:off x="530352" y="2574036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F5A623"/>
                </a:solidFill>
                <a:latin typeface="Calibri"/>
                <a:ea typeface="Calibri"/>
                <a:cs typeface="Calibri"/>
              </a:rPr>
              <a:t>Places pour vehicules éléctriques</a:t>
            </a:r>
            <a:endParaRPr lang="en-US" sz="1100"/>
          </a:p>
        </p:txBody>
      </p:sp>
      <p:sp>
        <p:nvSpPr>
          <p:cNvPr id="670122261" name="Text 6"/>
          <p:cNvSpPr/>
          <p:nvPr/>
        </p:nvSpPr>
        <p:spPr bwMode="auto">
          <a:xfrm>
            <a:off x="530352" y="283006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Pour les clients qui souhaitent charger leur vehicule.</a:t>
            </a:r>
            <a:endParaRPr lang="en-US" sz="1000"/>
          </a:p>
        </p:txBody>
      </p:sp>
      <p:sp>
        <p:nvSpPr>
          <p:cNvPr id="1941404702" name="Text 5"/>
          <p:cNvSpPr/>
          <p:nvPr/>
        </p:nvSpPr>
        <p:spPr bwMode="auto">
          <a:xfrm>
            <a:off x="530352" y="338328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F5A623"/>
                </a:solidFill>
                <a:latin typeface="Calibri"/>
                <a:ea typeface="Calibri"/>
                <a:cs typeface="Calibri"/>
              </a:rPr>
              <a:t>API interchangable</a:t>
            </a:r>
            <a:endParaRPr lang="en-US" sz="1100"/>
          </a:p>
        </p:txBody>
      </p:sp>
      <p:sp>
        <p:nvSpPr>
          <p:cNvPr id="1428899785" name="Text 6"/>
          <p:cNvSpPr/>
          <p:nvPr/>
        </p:nvSpPr>
        <p:spPr bwMode="auto">
          <a:xfrm>
            <a:off x="530352" y="363931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Grâce à l’</a:t>
            </a:r>
            <a:r>
              <a:rPr lang="en-US" sz="1000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adapter design pattern</a:t>
            </a:r>
            <a:endParaRPr lang="en-US" sz="1000"/>
          </a:p>
        </p:txBody>
      </p:sp>
      <p:sp>
        <p:nvSpPr>
          <p:cNvPr id="447009260" name="Text 5"/>
          <p:cNvSpPr/>
          <p:nvPr/>
        </p:nvSpPr>
        <p:spPr bwMode="auto">
          <a:xfrm>
            <a:off x="548640" y="176479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F5A623"/>
                </a:solidFill>
                <a:latin typeface="Calibri"/>
                <a:ea typeface="Calibri"/>
                <a:cs typeface="Calibri"/>
              </a:rPr>
              <a:t>Taux de places disponibles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9">
    <p:bg>
      <p:bgPr shadeToTitle="0">
        <a:solidFill>
          <a:srgbClr val="F8F9F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7478698" name="Shape 0"/>
          <p:cNvSpPr/>
          <p:nvPr/>
        </p:nvSpPr>
        <p:spPr bwMode="auto">
          <a:xfrm>
            <a:off x="0" y="0"/>
            <a:ext cx="9144000" cy="100584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1881625184" name="Text 1"/>
          <p:cNvSpPr/>
          <p:nvPr/>
        </p:nvSpPr>
        <p:spPr bwMode="auto"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07 · Statistiques de visiteurs</a:t>
            </a:r>
            <a:endParaRPr lang="en-US" sz="2000"/>
          </a:p>
        </p:txBody>
      </p:sp>
      <p:pic>
        <p:nvPicPr>
          <p:cNvPr id="623065093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65760" y="1097280"/>
            <a:ext cx="411480" cy="411480"/>
          </a:xfrm>
          <a:prstGeom prst="rect">
            <a:avLst/>
          </a:prstGeom>
        </p:spPr>
      </p:pic>
      <p:sp>
        <p:nvSpPr>
          <p:cNvPr id="1540770396" name="Text 2"/>
          <p:cNvSpPr/>
          <p:nvPr/>
        </p:nvSpPr>
        <p:spPr bwMode="auto">
          <a:xfrm>
            <a:off x="868680" y="112471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A2B5E"/>
                </a:solidFill>
              </a:rPr>
              <a:t>Solution : Matomo Analytics (open-source, hébergé sur votre serveur)</a:t>
            </a:r>
            <a:endParaRPr lang="en-US" sz="1200"/>
          </a:p>
        </p:txBody>
      </p:sp>
      <p:sp>
        <p:nvSpPr>
          <p:cNvPr id="1472686392" name="Shape 3"/>
          <p:cNvSpPr/>
          <p:nvPr/>
        </p:nvSpPr>
        <p:spPr bwMode="auto">
          <a:xfrm>
            <a:off x="274320" y="1600200"/>
            <a:ext cx="2743200" cy="146304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  <a:effectLst>
            <a:outerShdw blurRad="76200" dist="25400" dir="81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1072465624" name="Text 4"/>
          <p:cNvSpPr/>
          <p:nvPr/>
        </p:nvSpPr>
        <p:spPr bwMode="auto">
          <a:xfrm>
            <a:off x="365760" y="166420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2200">
                <a:solidFill>
                  <a:srgbClr val="000000"/>
                </a:solidFill>
              </a:rPr>
              <a:t>📅</a:t>
            </a:r>
            <a:endParaRPr lang="en-US" sz="2200"/>
          </a:p>
        </p:txBody>
      </p:sp>
      <p:sp>
        <p:nvSpPr>
          <p:cNvPr id="1188751301" name="Text 5"/>
          <p:cNvSpPr/>
          <p:nvPr/>
        </p:nvSpPr>
        <p:spPr bwMode="auto">
          <a:xfrm>
            <a:off x="365760" y="210312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2600" b="1">
                <a:solidFill>
                  <a:srgbClr val="F5A623"/>
                </a:solidFill>
                <a:latin typeface="Georgia"/>
                <a:ea typeface="Georgia"/>
                <a:cs typeface="Georgia"/>
              </a:rPr>
              <a:t>1 247</a:t>
            </a:r>
            <a:endParaRPr lang="en-US" sz="2600"/>
          </a:p>
        </p:txBody>
      </p:sp>
      <p:sp>
        <p:nvSpPr>
          <p:cNvPr id="69416773" name="Text 6"/>
          <p:cNvSpPr/>
          <p:nvPr/>
        </p:nvSpPr>
        <p:spPr bwMode="auto">
          <a:xfrm>
            <a:off x="365760" y="26517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FFFFFF"/>
                </a:solidFill>
              </a:rPr>
              <a:t>Visiteurs journaliers</a:t>
            </a:r>
            <a:endParaRPr lang="en-US" sz="1000"/>
          </a:p>
        </p:txBody>
      </p:sp>
      <p:sp>
        <p:nvSpPr>
          <p:cNvPr id="391311860" name="Shape 7"/>
          <p:cNvSpPr/>
          <p:nvPr/>
        </p:nvSpPr>
        <p:spPr bwMode="auto">
          <a:xfrm>
            <a:off x="3200400" y="1600200"/>
            <a:ext cx="2743200" cy="146304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  <a:effectLst>
            <a:outerShdw blurRad="76200" dist="25400" dir="81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92835547" name="Text 8"/>
          <p:cNvSpPr/>
          <p:nvPr/>
        </p:nvSpPr>
        <p:spPr bwMode="auto">
          <a:xfrm>
            <a:off x="3291840" y="166420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2200">
                <a:solidFill>
                  <a:srgbClr val="000000"/>
                </a:solidFill>
              </a:rPr>
              <a:t>📆</a:t>
            </a:r>
            <a:endParaRPr lang="en-US" sz="2200"/>
          </a:p>
        </p:txBody>
      </p:sp>
      <p:sp>
        <p:nvSpPr>
          <p:cNvPr id="1219308094" name="Text 9"/>
          <p:cNvSpPr/>
          <p:nvPr/>
        </p:nvSpPr>
        <p:spPr bwMode="auto">
          <a:xfrm>
            <a:off x="3291840" y="210312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2600" b="1">
                <a:solidFill>
                  <a:srgbClr val="F5A623"/>
                </a:solidFill>
                <a:latin typeface="Georgia"/>
                <a:ea typeface="Georgia"/>
                <a:cs typeface="Georgia"/>
              </a:rPr>
              <a:t>32 180</a:t>
            </a:r>
            <a:endParaRPr lang="en-US" sz="2600"/>
          </a:p>
        </p:txBody>
      </p:sp>
      <p:sp>
        <p:nvSpPr>
          <p:cNvPr id="2072529778" name="Text 10"/>
          <p:cNvSpPr/>
          <p:nvPr/>
        </p:nvSpPr>
        <p:spPr bwMode="auto">
          <a:xfrm>
            <a:off x="3291840" y="26517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FFFFFF"/>
                </a:solidFill>
              </a:rPr>
              <a:t>Visiteurs mensuels</a:t>
            </a:r>
            <a:endParaRPr lang="en-US" sz="1000"/>
          </a:p>
        </p:txBody>
      </p:sp>
      <p:sp>
        <p:nvSpPr>
          <p:cNvPr id="268621868" name="Shape 11"/>
          <p:cNvSpPr/>
          <p:nvPr/>
        </p:nvSpPr>
        <p:spPr bwMode="auto">
          <a:xfrm>
            <a:off x="6126480" y="1600200"/>
            <a:ext cx="2743200" cy="146304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  <a:effectLst>
            <a:outerShdw blurRad="76200" dist="25400" dir="81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112054925" name="Text 12"/>
          <p:cNvSpPr/>
          <p:nvPr/>
        </p:nvSpPr>
        <p:spPr bwMode="auto">
          <a:xfrm>
            <a:off x="6217920" y="166420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2200">
                <a:solidFill>
                  <a:srgbClr val="000000"/>
                </a:solidFill>
              </a:rPr>
              <a:t>📊</a:t>
            </a:r>
            <a:endParaRPr lang="en-US" sz="2200"/>
          </a:p>
        </p:txBody>
      </p:sp>
      <p:sp>
        <p:nvSpPr>
          <p:cNvPr id="1287332587" name="Text 13"/>
          <p:cNvSpPr/>
          <p:nvPr/>
        </p:nvSpPr>
        <p:spPr bwMode="auto">
          <a:xfrm>
            <a:off x="6217920" y="210312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2600" b="1">
                <a:solidFill>
                  <a:srgbClr val="F5A623"/>
                </a:solidFill>
                <a:latin typeface="Georgia"/>
                <a:ea typeface="Georgia"/>
                <a:cs typeface="Georgia"/>
              </a:rPr>
              <a:t>374 800</a:t>
            </a:r>
            <a:endParaRPr lang="en-US" sz="2600"/>
          </a:p>
        </p:txBody>
      </p:sp>
      <p:sp>
        <p:nvSpPr>
          <p:cNvPr id="583062707" name="Text 14"/>
          <p:cNvSpPr/>
          <p:nvPr/>
        </p:nvSpPr>
        <p:spPr bwMode="auto">
          <a:xfrm>
            <a:off x="6217920" y="26517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FFFFFF"/>
                </a:solidFill>
              </a:rPr>
              <a:t>Visiteurs annuels</a:t>
            </a:r>
            <a:endParaRPr lang="en-US" sz="1000"/>
          </a:p>
        </p:txBody>
      </p:sp>
      <p:graphicFrame>
        <p:nvGraphicFramePr>
          <p:cNvPr id="674663376" name="Chart 0" descr=""/>
          <p:cNvGraphicFramePr>
            <a:graphicFrameLocks xmlns:a="http://schemas.openxmlformats.org/drawingml/2006/main"/>
          </p:cNvGraphicFramePr>
          <p:nvPr/>
        </p:nvGraphicFramePr>
        <p:xfrm rot="0">
          <a:off x="274320" y="3200400"/>
          <a:ext cx="8595360" cy="1737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0">
    <p:bg>
      <p:bgPr shadeToTitle="0">
        <a:solidFill>
          <a:srgbClr val="1A2B5E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6364638" name="Shape 0"/>
          <p:cNvSpPr/>
          <p:nvPr/>
        </p:nvSpPr>
        <p:spPr bwMode="auto">
          <a:xfrm>
            <a:off x="0" y="0"/>
            <a:ext cx="9144000" cy="1005840"/>
          </a:xfrm>
          <a:prstGeom prst="rect">
            <a:avLst/>
          </a:prstGeom>
          <a:solidFill>
            <a:srgbClr val="243572"/>
          </a:solidFill>
          <a:ln w="12700">
            <a:solidFill>
              <a:srgbClr val="243572"/>
            </a:solidFill>
            <a:prstDash val="solid"/>
          </a:ln>
        </p:spPr>
      </p:sp>
      <p:sp>
        <p:nvSpPr>
          <p:cNvPr id="1693185143" name="Text 1"/>
          <p:cNvSpPr/>
          <p:nvPr/>
        </p:nvSpPr>
        <p:spPr bwMode="auto"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F5A623"/>
                </a:solidFill>
                <a:latin typeface="Calibri"/>
                <a:ea typeface="Calibri"/>
                <a:cs typeface="Calibri"/>
              </a:rPr>
              <a:t>08 · Sécurité &amp; comptes utilisateurs</a:t>
            </a:r>
            <a:endParaRPr lang="en-US" sz="2000"/>
          </a:p>
        </p:txBody>
      </p:sp>
      <p:pic>
        <p:nvPicPr>
          <p:cNvPr id="370665468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65760" y="1097280"/>
            <a:ext cx="457200" cy="457200"/>
          </a:xfrm>
          <a:prstGeom prst="rect">
            <a:avLst/>
          </a:prstGeom>
        </p:spPr>
      </p:pic>
      <p:sp>
        <p:nvSpPr>
          <p:cNvPr id="1719864368" name="Text 2"/>
          <p:cNvSpPr/>
          <p:nvPr/>
        </p:nvSpPr>
        <p:spPr bwMode="auto">
          <a:xfrm>
            <a:off x="914400" y="112471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FFFFFF"/>
                </a:solidFill>
              </a:rPr>
              <a:t>Authentification &amp; accès</a:t>
            </a:r>
            <a:endParaRPr lang="en-US" sz="1400"/>
          </a:p>
        </p:txBody>
      </p:sp>
      <p:sp>
        <p:nvSpPr>
          <p:cNvPr id="243401047" name="Text 3"/>
          <p:cNvSpPr/>
          <p:nvPr/>
        </p:nvSpPr>
        <p:spPr bwMode="auto">
          <a:xfrm>
            <a:off x="365760" y="1645920"/>
            <a:ext cx="4114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  <a:defRPr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Inscription avec email + mot de passe sécurisé</a:t>
            </a:r>
            <a:endParaRPr lang="en-US" sz="1200"/>
          </a:p>
          <a:p>
            <a:pPr marL="342900" indent="-342900">
              <a:spcAft>
                <a:spcPts val="600"/>
              </a:spcAft>
              <a:buSzPct val="100000"/>
              <a:buChar char="•"/>
              <a:defRPr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Connexion requise pour participer au jeu</a:t>
            </a:r>
            <a:endParaRPr lang="en-US" sz="1200"/>
          </a:p>
          <a:p>
            <a:pPr marL="342900" indent="-342900">
              <a:spcAft>
                <a:spcPts val="600"/>
              </a:spcAft>
              <a:buSzPct val="100000"/>
              <a:buChar char="•"/>
              <a:defRPr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Tokens de session chiffrés (SSL/TLS)</a:t>
            </a:r>
            <a:endParaRPr lang="en-US" sz="1200"/>
          </a:p>
          <a:p>
            <a:pPr marL="342900" indent="-342900">
              <a:spcAft>
                <a:spcPts val="600"/>
              </a:spcAft>
              <a:buSzPct val="100000"/>
              <a:buChar char="•"/>
              <a:defRPr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Protection contre le spam (CAPTCHA)</a:t>
            </a:r>
            <a:endParaRPr lang="en-US" sz="1200"/>
          </a:p>
          <a:p>
            <a:pPr marL="342900" indent="-342900">
              <a:spcAft>
                <a:spcPts val="600"/>
              </a:spcAft>
              <a:buSzPct val="100000"/>
              <a:buChar char="•"/>
              <a:defRPr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Réinitialisation de mot de passe par email</a:t>
            </a:r>
            <a:endParaRPr lang="en-US" sz="1200"/>
          </a:p>
        </p:txBody>
      </p:sp>
      <p:pic>
        <p:nvPicPr>
          <p:cNvPr id="1291539072" name="Image 1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5029200" y="1097280"/>
            <a:ext cx="457200" cy="457200"/>
          </a:xfrm>
          <a:prstGeom prst="rect">
            <a:avLst/>
          </a:prstGeom>
        </p:spPr>
      </p:pic>
      <p:sp>
        <p:nvSpPr>
          <p:cNvPr id="312405058" name="Text 4"/>
          <p:cNvSpPr/>
          <p:nvPr/>
        </p:nvSpPr>
        <p:spPr bwMode="auto">
          <a:xfrm>
            <a:off x="5577840" y="1124712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F5A623"/>
                </a:solidFill>
              </a:rPr>
              <a:t>Règles du jeu appliquées</a:t>
            </a:r>
            <a:endParaRPr lang="en-US" sz="1400"/>
          </a:p>
        </p:txBody>
      </p:sp>
      <p:sp>
        <p:nvSpPr>
          <p:cNvPr id="542857404" name="Shape 5"/>
          <p:cNvSpPr/>
          <p:nvPr/>
        </p:nvSpPr>
        <p:spPr bwMode="auto">
          <a:xfrm>
            <a:off x="5029200" y="1664208"/>
            <a:ext cx="3749040" cy="640080"/>
          </a:xfrm>
          <a:prstGeom prst="rect">
            <a:avLst/>
          </a:prstGeom>
          <a:solidFill>
            <a:srgbClr val="243572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75369684" name="Text 6"/>
          <p:cNvSpPr/>
          <p:nvPr/>
        </p:nvSpPr>
        <p:spPr bwMode="auto">
          <a:xfrm>
            <a:off x="5120640" y="170992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F5A623"/>
                </a:solidFill>
                <a:latin typeface="Calibri"/>
                <a:ea typeface="Calibri"/>
                <a:cs typeface="Calibri"/>
              </a:rPr>
              <a:t>1 partie / jour</a:t>
            </a:r>
            <a:endParaRPr lang="en-US" sz="1100"/>
          </a:p>
        </p:txBody>
      </p:sp>
      <p:sp>
        <p:nvSpPr>
          <p:cNvPr id="511099175" name="Text 7"/>
          <p:cNvSpPr/>
          <p:nvPr/>
        </p:nvSpPr>
        <p:spPr bwMode="auto">
          <a:xfrm>
            <a:off x="5120640" y="193852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Cookie + base de données horodatée</a:t>
            </a:r>
            <a:endParaRPr lang="en-US" sz="1000"/>
          </a:p>
        </p:txBody>
      </p:sp>
      <p:sp>
        <p:nvSpPr>
          <p:cNvPr id="1214584043" name="Shape 8"/>
          <p:cNvSpPr/>
          <p:nvPr/>
        </p:nvSpPr>
        <p:spPr bwMode="auto">
          <a:xfrm>
            <a:off x="5029200" y="2414016"/>
            <a:ext cx="3749040" cy="640080"/>
          </a:xfrm>
          <a:prstGeom prst="rect">
            <a:avLst/>
          </a:prstGeom>
          <a:solidFill>
            <a:srgbClr val="243572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934770642" name="Text 9"/>
          <p:cNvSpPr/>
          <p:nvPr/>
        </p:nvSpPr>
        <p:spPr bwMode="auto">
          <a:xfrm>
            <a:off x="5120640" y="2459735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F5A623"/>
                </a:solidFill>
                <a:latin typeface="Calibri"/>
                <a:ea typeface="Calibri"/>
                <a:cs typeface="Calibri"/>
              </a:rPr>
              <a:t>2ème chance si défaite</a:t>
            </a:r>
            <a:endParaRPr lang="en-US" sz="1100"/>
          </a:p>
        </p:txBody>
      </p:sp>
      <p:sp>
        <p:nvSpPr>
          <p:cNvPr id="976807494" name="Text 10"/>
          <p:cNvSpPr/>
          <p:nvPr/>
        </p:nvSpPr>
        <p:spPr bwMode="auto">
          <a:xfrm>
            <a:off x="5120640" y="2688336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État de partie stocké en session</a:t>
            </a:r>
            <a:endParaRPr lang="en-US" sz="1000"/>
          </a:p>
        </p:txBody>
      </p:sp>
      <p:sp>
        <p:nvSpPr>
          <p:cNvPr id="1030249768" name="Shape 11"/>
          <p:cNvSpPr/>
          <p:nvPr/>
        </p:nvSpPr>
        <p:spPr bwMode="auto">
          <a:xfrm>
            <a:off x="5029200" y="3163824"/>
            <a:ext cx="3749040" cy="640080"/>
          </a:xfrm>
          <a:prstGeom prst="rect">
            <a:avLst/>
          </a:prstGeom>
          <a:solidFill>
            <a:srgbClr val="243572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02465498" name="Text 12"/>
          <p:cNvSpPr/>
          <p:nvPr/>
        </p:nvSpPr>
        <p:spPr bwMode="auto">
          <a:xfrm>
            <a:off x="5120640" y="3209544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F5A623"/>
                </a:solidFill>
                <a:latin typeface="Calibri"/>
                <a:ea typeface="Calibri"/>
                <a:cs typeface="Calibri"/>
              </a:rPr>
              <a:t>10 cadeaux max/jour</a:t>
            </a:r>
            <a:endParaRPr lang="en-US" sz="1100"/>
          </a:p>
        </p:txBody>
      </p:sp>
      <p:sp>
        <p:nvSpPr>
          <p:cNvPr id="478974979" name="Text 13"/>
          <p:cNvSpPr/>
          <p:nvPr/>
        </p:nvSpPr>
        <p:spPr bwMode="auto">
          <a:xfrm>
            <a:off x="5120640" y="3438144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Compteur global réinitialisé à minuit</a:t>
            </a:r>
            <a:endParaRPr lang="en-US" sz="1000"/>
          </a:p>
        </p:txBody>
      </p:sp>
      <p:sp>
        <p:nvSpPr>
          <p:cNvPr id="1956532004" name="Shape 14"/>
          <p:cNvSpPr/>
          <p:nvPr/>
        </p:nvSpPr>
        <p:spPr bwMode="auto">
          <a:xfrm>
            <a:off x="5029200" y="3913632"/>
            <a:ext cx="3749040" cy="640080"/>
          </a:xfrm>
          <a:prstGeom prst="rect">
            <a:avLst/>
          </a:prstGeom>
          <a:solidFill>
            <a:srgbClr val="243572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31567934" name="Text 15"/>
          <p:cNvSpPr/>
          <p:nvPr/>
        </p:nvSpPr>
        <p:spPr bwMode="auto">
          <a:xfrm>
            <a:off x="5120640" y="395935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F5A623"/>
                </a:solidFill>
                <a:latin typeface="Calibri"/>
                <a:ea typeface="Calibri"/>
                <a:cs typeface="Calibri"/>
              </a:rPr>
              <a:t>Bons d'achat uniques</a:t>
            </a:r>
            <a:endParaRPr lang="en-US" sz="1100"/>
          </a:p>
        </p:txBody>
      </p:sp>
      <p:sp>
        <p:nvSpPr>
          <p:cNvPr id="1578812936" name="Text 16"/>
          <p:cNvSpPr/>
          <p:nvPr/>
        </p:nvSpPr>
        <p:spPr bwMode="auto">
          <a:xfrm>
            <a:off x="5120640" y="418795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Code généré aléatoirement (UUID)</a:t>
            </a:r>
            <a:endParaRPr lang="en-US" sz="1000"/>
          </a:p>
        </p:txBody>
      </p:sp>
      <p:sp>
        <p:nvSpPr>
          <p:cNvPr id="216656204" name="Text 17"/>
          <p:cNvSpPr/>
          <p:nvPr/>
        </p:nvSpPr>
        <p:spPr bwMode="auto">
          <a:xfrm>
            <a:off x="36576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100" i="1">
                <a:solidFill>
                  <a:srgbClr val="718096"/>
                </a:solidFill>
              </a:rPr>
              <a:t>Certificat SSL inclus — données protégées conformément au RGPD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1">
    <p:bg>
      <p:bgPr shadeToTitle="0">
        <a:solidFill>
          <a:srgbClr val="F8F9F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6155857" name="Shape 0"/>
          <p:cNvSpPr/>
          <p:nvPr/>
        </p:nvSpPr>
        <p:spPr bwMode="auto">
          <a:xfrm>
            <a:off x="0" y="0"/>
            <a:ext cx="9144000" cy="100584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240723729" name="Text 1"/>
          <p:cNvSpPr/>
          <p:nvPr/>
        </p:nvSpPr>
        <p:spPr bwMode="auto"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09 · Technologies &amp; coûts</a:t>
            </a:r>
            <a:endParaRPr lang="en-US" sz="2000"/>
          </a:p>
        </p:txBody>
      </p:sp>
      <p:sp>
        <p:nvSpPr>
          <p:cNvPr id="245483328" name="Text 2"/>
          <p:cNvSpPr/>
          <p:nvPr/>
        </p:nvSpPr>
        <p:spPr bwMode="auto">
          <a:xfrm>
            <a:off x="365760" y="10972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1A2B5E"/>
                </a:solidFill>
                <a:latin typeface="Calibri"/>
                <a:ea typeface="Calibri"/>
                <a:cs typeface="Calibri"/>
              </a:rPr>
              <a:t>Stack technique (tout open-source)</a:t>
            </a:r>
            <a:endParaRPr lang="en-US" sz="1300"/>
          </a:p>
        </p:txBody>
      </p:sp>
      <p:graphicFrame>
        <p:nvGraphicFramePr>
          <p:cNvPr id="911307914" name="Table 0"/>
          <p:cNvGraphicFramePr>
            <a:graphicFrameLocks xmlns:a="http://schemas.openxmlformats.org/drawingml/2006/main" noGrp="1"/>
          </p:cNvGraphicFramePr>
          <p:nvPr/>
        </p:nvGraphicFramePr>
        <p:xfrm rot="0">
          <a:off x="365760" y="1508759"/>
          <a:ext cx="4846320" cy="3017519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1737360"/>
                <a:gridCol w="2011680"/>
                <a:gridCol w="1097280"/>
              </a:tblGrid>
              <a:tr h="365760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Technologie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12700" algn="ctr">
                      <a:solidFill>
                        <a:srgbClr val="E8EBF4"/>
                      </a:solidFill>
                    </a:lnL>
                    <a:lnR w="12700" algn="ctr">
                      <a:solidFill>
                        <a:srgbClr val="E8EBF4"/>
                      </a:solidFill>
                    </a:lnR>
                    <a:lnT w="12700" algn="ctr">
                      <a:solidFill>
                        <a:srgbClr val="E8EBF4"/>
                      </a:solidFill>
                    </a:lnT>
                    <a:lnB w="12700" algn="ctr">
                      <a:solidFill>
                        <a:srgbClr val="E8EBF4"/>
                      </a:solidFill>
                    </a:lnB>
                    <a:solidFill>
                      <a:srgbClr val="1A2B5E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Rôle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12700" algn="ctr">
                      <a:solidFill>
                        <a:srgbClr val="E8EBF4"/>
                      </a:solidFill>
                    </a:lnL>
                    <a:lnR w="12700" algn="ctr">
                      <a:solidFill>
                        <a:srgbClr val="E8EBF4"/>
                      </a:solidFill>
                    </a:lnR>
                    <a:lnT w="12700" algn="ctr">
                      <a:solidFill>
                        <a:srgbClr val="E8EBF4"/>
                      </a:solidFill>
                    </a:lnT>
                    <a:lnB w="12700" algn="ctr">
                      <a:solidFill>
                        <a:srgbClr val="E8EBF4"/>
                      </a:solidFill>
                    </a:lnB>
                    <a:solidFill>
                      <a:srgbClr val="1A2B5E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Coût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12700" algn="ctr">
                      <a:solidFill>
                        <a:srgbClr val="E8EBF4"/>
                      </a:solidFill>
                    </a:lnL>
                    <a:lnR w="12700" algn="ctr">
                      <a:solidFill>
                        <a:srgbClr val="E8EBF4"/>
                      </a:solidFill>
                    </a:lnR>
                    <a:lnT w="12700" algn="ctr">
                      <a:solidFill>
                        <a:srgbClr val="E8EBF4"/>
                      </a:solidFill>
                    </a:lnT>
                    <a:lnB w="12700" algn="ctr">
                      <a:solidFill>
                        <a:srgbClr val="E8EBF4"/>
                      </a:solidFill>
                    </a:lnB>
                    <a:solidFill>
                      <a:srgbClr val="1A2B5E"/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100">
                          <a:solidFill>
                            <a:srgbClr val="2D3748"/>
                          </a:solidFill>
                          <a:latin typeface="Calibri"/>
                          <a:ea typeface="Calibri"/>
                          <a:cs typeface="Calibri"/>
                        </a:rPr>
                        <a:t>WordPress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12700" algn="ctr">
                      <a:solidFill>
                        <a:srgbClr val="E8EBF4"/>
                      </a:solidFill>
                    </a:lnL>
                    <a:lnR w="12700" algn="ctr">
                      <a:solidFill>
                        <a:srgbClr val="E8EBF4"/>
                      </a:solidFill>
                    </a:lnR>
                    <a:lnT w="12700" algn="ctr">
                      <a:solidFill>
                        <a:srgbClr val="E8EBF4"/>
                      </a:solidFill>
                    </a:lnT>
                    <a:lnB w="12700" algn="ctr">
                      <a:solidFill>
                        <a:srgbClr val="E8EBF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100">
                          <a:solidFill>
                            <a:srgbClr val="2D3748"/>
                          </a:solidFill>
                          <a:latin typeface="Calibri"/>
                          <a:ea typeface="Calibri"/>
                          <a:cs typeface="Calibri"/>
                        </a:rPr>
                        <a:t>CMS &amp; gestion du contenu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12700" algn="ctr">
                      <a:solidFill>
                        <a:srgbClr val="E8EBF4"/>
                      </a:solidFill>
                    </a:lnL>
                    <a:lnR w="12700" algn="ctr">
                      <a:solidFill>
                        <a:srgbClr val="E8EBF4"/>
                      </a:solidFill>
                    </a:lnR>
                    <a:lnT w="12700" algn="ctr">
                      <a:solidFill>
                        <a:srgbClr val="E8EBF4"/>
                      </a:solidFill>
                    </a:lnT>
                    <a:lnB w="12700" algn="ctr">
                      <a:solidFill>
                        <a:srgbClr val="E8EBF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100">
                          <a:solidFill>
                            <a:srgbClr val="2D3748"/>
                          </a:solidFill>
                          <a:latin typeface="Calibri"/>
                          <a:ea typeface="Calibri"/>
                          <a:cs typeface="Calibri"/>
                        </a:rPr>
                        <a:t>Gratuit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12700" algn="ctr">
                      <a:solidFill>
                        <a:srgbClr val="E8EBF4"/>
                      </a:solidFill>
                    </a:lnL>
                    <a:lnR w="12700" algn="ctr">
                      <a:solidFill>
                        <a:srgbClr val="E8EBF4"/>
                      </a:solidFill>
                    </a:lnR>
                    <a:lnT w="12700" algn="ctr">
                      <a:solidFill>
                        <a:srgbClr val="E8EBF4"/>
                      </a:solidFill>
                    </a:lnT>
                    <a:lnB w="12700" algn="ctr">
                      <a:solidFill>
                        <a:srgbClr val="E8EBF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100">
                          <a:solidFill>
                            <a:srgbClr val="2D3748"/>
                          </a:solidFill>
                          <a:latin typeface="Calibri"/>
                          <a:ea typeface="Calibri"/>
                          <a:cs typeface="Calibri"/>
                        </a:rPr>
                        <a:t>MySQL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12700" algn="ctr">
                      <a:solidFill>
                        <a:srgbClr val="E8EBF4"/>
                      </a:solidFill>
                    </a:lnL>
                    <a:lnR w="12700" algn="ctr">
                      <a:solidFill>
                        <a:srgbClr val="E8EBF4"/>
                      </a:solidFill>
                    </a:lnR>
                    <a:lnT w="12700" algn="ctr">
                      <a:solidFill>
                        <a:srgbClr val="E8EBF4"/>
                      </a:solidFill>
                    </a:lnT>
                    <a:lnB w="12700" algn="ctr">
                      <a:solidFill>
                        <a:srgbClr val="E8EBF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100">
                          <a:solidFill>
                            <a:srgbClr val="2D3748"/>
                          </a:solidFill>
                          <a:latin typeface="Calibri"/>
                          <a:ea typeface="Calibri"/>
                          <a:cs typeface="Calibri"/>
                        </a:rPr>
                        <a:t>Base de données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12700" algn="ctr">
                      <a:solidFill>
                        <a:srgbClr val="E8EBF4"/>
                      </a:solidFill>
                    </a:lnL>
                    <a:lnR w="12700" algn="ctr">
                      <a:solidFill>
                        <a:srgbClr val="E8EBF4"/>
                      </a:solidFill>
                    </a:lnR>
                    <a:lnT w="12700" algn="ctr">
                      <a:solidFill>
                        <a:srgbClr val="E8EBF4"/>
                      </a:solidFill>
                    </a:lnT>
                    <a:lnB w="12700" algn="ctr">
                      <a:solidFill>
                        <a:srgbClr val="E8EBF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100">
                          <a:solidFill>
                            <a:srgbClr val="2D3748"/>
                          </a:solidFill>
                          <a:latin typeface="Calibri"/>
                          <a:ea typeface="Calibri"/>
                          <a:cs typeface="Calibri"/>
                        </a:rPr>
                        <a:t>Gratuit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12700" algn="ctr">
                      <a:solidFill>
                        <a:srgbClr val="E8EBF4"/>
                      </a:solidFill>
                    </a:lnL>
                    <a:lnR w="12700" algn="ctr">
                      <a:solidFill>
                        <a:srgbClr val="E8EBF4"/>
                      </a:solidFill>
                    </a:lnR>
                    <a:lnT w="12700" algn="ctr">
                      <a:solidFill>
                        <a:srgbClr val="E8EBF4"/>
                      </a:solidFill>
                    </a:lnT>
                    <a:lnB w="12700" algn="ctr">
                      <a:solidFill>
                        <a:srgbClr val="E8EBF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100">
                          <a:solidFill>
                            <a:srgbClr val="2D3748"/>
                          </a:solidFill>
                          <a:latin typeface="Calibri"/>
                          <a:ea typeface="Calibri"/>
                          <a:cs typeface="Calibri"/>
                        </a:rPr>
                        <a:t>PHP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12700" algn="ctr">
                      <a:solidFill>
                        <a:srgbClr val="E8EBF4"/>
                      </a:solidFill>
                    </a:lnL>
                    <a:lnR w="12700" algn="ctr">
                      <a:solidFill>
                        <a:srgbClr val="E8EBF4"/>
                      </a:solidFill>
                    </a:lnR>
                    <a:lnT w="12700" algn="ctr">
                      <a:solidFill>
                        <a:srgbClr val="E8EBF4"/>
                      </a:solidFill>
                    </a:lnT>
                    <a:lnB w="12700" algn="ctr">
                      <a:solidFill>
                        <a:srgbClr val="E8EBF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100">
                          <a:solidFill>
                            <a:srgbClr val="2D3748"/>
                          </a:solidFill>
                          <a:latin typeface="Calibri"/>
                          <a:ea typeface="Calibri"/>
                          <a:cs typeface="Calibri"/>
                        </a:rPr>
                        <a:t>Langage serveur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12700" algn="ctr">
                      <a:solidFill>
                        <a:srgbClr val="E8EBF4"/>
                      </a:solidFill>
                    </a:lnL>
                    <a:lnR w="12700" algn="ctr">
                      <a:solidFill>
                        <a:srgbClr val="E8EBF4"/>
                      </a:solidFill>
                    </a:lnR>
                    <a:lnT w="12700" algn="ctr">
                      <a:solidFill>
                        <a:srgbClr val="E8EBF4"/>
                      </a:solidFill>
                    </a:lnT>
                    <a:lnB w="12700" algn="ctr">
                      <a:solidFill>
                        <a:srgbClr val="E8EBF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100">
                          <a:solidFill>
                            <a:srgbClr val="2D3748"/>
                          </a:solidFill>
                          <a:latin typeface="Calibri"/>
                          <a:ea typeface="Calibri"/>
                          <a:cs typeface="Calibri"/>
                        </a:rPr>
                        <a:t>Gratuit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12700" algn="ctr">
                      <a:solidFill>
                        <a:srgbClr val="E8EBF4"/>
                      </a:solidFill>
                    </a:lnL>
                    <a:lnR w="12700" algn="ctr">
                      <a:solidFill>
                        <a:srgbClr val="E8EBF4"/>
                      </a:solidFill>
                    </a:lnR>
                    <a:lnT w="12700" algn="ctr">
                      <a:solidFill>
                        <a:srgbClr val="E8EBF4"/>
                      </a:solidFill>
                    </a:lnT>
                    <a:lnB w="12700" algn="ctr">
                      <a:solidFill>
                        <a:srgbClr val="E8EBF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100">
                          <a:solidFill>
                            <a:srgbClr val="2D3748"/>
                          </a:solidFill>
                          <a:latin typeface="Calibri"/>
                          <a:ea typeface="Calibri"/>
                          <a:cs typeface="Calibri"/>
                        </a:rPr>
                        <a:t>Matomo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12700" algn="ctr">
                      <a:solidFill>
                        <a:srgbClr val="E8EBF4"/>
                      </a:solidFill>
                    </a:lnL>
                    <a:lnR w="12700" algn="ctr">
                      <a:solidFill>
                        <a:srgbClr val="E8EBF4"/>
                      </a:solidFill>
                    </a:lnR>
                    <a:lnT w="12700" algn="ctr">
                      <a:solidFill>
                        <a:srgbClr val="E8EBF4"/>
                      </a:solidFill>
                    </a:lnT>
                    <a:lnB w="12700" algn="ctr">
                      <a:solidFill>
                        <a:srgbClr val="E8EBF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100">
                          <a:solidFill>
                            <a:srgbClr val="2D3748"/>
                          </a:solidFill>
                          <a:latin typeface="Calibri"/>
                          <a:ea typeface="Calibri"/>
                          <a:cs typeface="Calibri"/>
                        </a:rPr>
                        <a:t>Statistiques visiteurs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12700" algn="ctr">
                      <a:solidFill>
                        <a:srgbClr val="E8EBF4"/>
                      </a:solidFill>
                    </a:lnL>
                    <a:lnR w="12700" algn="ctr">
                      <a:solidFill>
                        <a:srgbClr val="E8EBF4"/>
                      </a:solidFill>
                    </a:lnR>
                    <a:lnT w="12700" algn="ctr">
                      <a:solidFill>
                        <a:srgbClr val="E8EBF4"/>
                      </a:solidFill>
                    </a:lnT>
                    <a:lnB w="12700" algn="ctr">
                      <a:solidFill>
                        <a:srgbClr val="E8EBF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100">
                          <a:solidFill>
                            <a:srgbClr val="2D3748"/>
                          </a:solidFill>
                          <a:latin typeface="Calibri"/>
                          <a:ea typeface="Calibri"/>
                          <a:cs typeface="Calibri"/>
                        </a:rPr>
                        <a:t>Gratuit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12700" algn="ctr">
                      <a:solidFill>
                        <a:srgbClr val="E8EBF4"/>
                      </a:solidFill>
                    </a:lnL>
                    <a:lnR w="12700" algn="ctr">
                      <a:solidFill>
                        <a:srgbClr val="E8EBF4"/>
                      </a:solidFill>
                    </a:lnR>
                    <a:lnT w="12700" algn="ctr">
                      <a:solidFill>
                        <a:srgbClr val="E8EBF4"/>
                      </a:solidFill>
                    </a:lnT>
                    <a:lnB w="12700" algn="ctr">
                      <a:solidFill>
                        <a:srgbClr val="E8EBF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100">
                          <a:solidFill>
                            <a:srgbClr val="2D3748"/>
                          </a:solidFill>
                          <a:latin typeface="Calibri"/>
                          <a:ea typeface="Calibri"/>
                          <a:cs typeface="Calibri"/>
                        </a:rPr>
                        <a:t>MapPress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12700" algn="ctr">
                      <a:solidFill>
                        <a:srgbClr val="E8EBF4"/>
                      </a:solidFill>
                    </a:lnL>
                    <a:lnR w="12700" algn="ctr">
                      <a:solidFill>
                        <a:srgbClr val="E8EBF4"/>
                      </a:solidFill>
                    </a:lnR>
                    <a:lnT w="12700" algn="ctr">
                      <a:solidFill>
                        <a:srgbClr val="E8EBF4"/>
                      </a:solidFill>
                    </a:lnT>
                    <a:lnB w="12700" algn="ctr">
                      <a:solidFill>
                        <a:srgbClr val="E8EBF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100">
                          <a:solidFill>
                            <a:srgbClr val="2D3748"/>
                          </a:solidFill>
                          <a:latin typeface="Calibri"/>
                          <a:ea typeface="Calibri"/>
                          <a:cs typeface="Calibri"/>
                        </a:rPr>
                        <a:t>Plan interactif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12700" algn="ctr">
                      <a:solidFill>
                        <a:srgbClr val="E8EBF4"/>
                      </a:solidFill>
                    </a:lnL>
                    <a:lnR w="12700" algn="ctr">
                      <a:solidFill>
                        <a:srgbClr val="E8EBF4"/>
                      </a:solidFill>
                    </a:lnR>
                    <a:lnT w="12700" algn="ctr">
                      <a:solidFill>
                        <a:srgbClr val="E8EBF4"/>
                      </a:solidFill>
                    </a:lnT>
                    <a:lnB w="12700" algn="ctr">
                      <a:solidFill>
                        <a:srgbClr val="E8EBF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100">
                          <a:solidFill>
                            <a:srgbClr val="2D3748"/>
                          </a:solidFill>
                          <a:latin typeface="Calibri"/>
                          <a:ea typeface="Calibri"/>
                          <a:cs typeface="Calibri"/>
                        </a:rPr>
                        <a:t>Gratuit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12700" algn="ctr">
                      <a:solidFill>
                        <a:srgbClr val="E8EBF4"/>
                      </a:solidFill>
                    </a:lnL>
                    <a:lnR w="12700" algn="ctr">
                      <a:solidFill>
                        <a:srgbClr val="E8EBF4"/>
                      </a:solidFill>
                    </a:lnR>
                    <a:lnT w="12700" algn="ctr">
                      <a:solidFill>
                        <a:srgbClr val="E8EBF4"/>
                      </a:solidFill>
                    </a:lnT>
                    <a:lnB w="12700" algn="ctr">
                      <a:solidFill>
                        <a:srgbClr val="E8EBF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100">
                          <a:solidFill>
                            <a:srgbClr val="2D3748"/>
                          </a:solidFill>
                          <a:latin typeface="Calibri"/>
                          <a:ea typeface="Calibri"/>
                          <a:cs typeface="Calibri"/>
                        </a:rPr>
                        <a:t>Hébergement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12700" algn="ctr">
                      <a:solidFill>
                        <a:srgbClr val="E8EBF4"/>
                      </a:solidFill>
                    </a:lnL>
                    <a:lnR w="12700" algn="ctr">
                      <a:solidFill>
                        <a:srgbClr val="E8EBF4"/>
                      </a:solidFill>
                    </a:lnR>
                    <a:lnT w="12700" algn="ctr">
                      <a:solidFill>
                        <a:srgbClr val="E8EBF4"/>
                      </a:solidFill>
                    </a:lnT>
                    <a:lnB w="12700" algn="ctr">
                      <a:solidFill>
                        <a:srgbClr val="E8EBF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100">
                          <a:solidFill>
                            <a:srgbClr val="2D3748"/>
                          </a:solidFill>
                          <a:latin typeface="Calibri"/>
                          <a:ea typeface="Calibri"/>
                          <a:cs typeface="Calibri"/>
                        </a:rPr>
                        <a:t>Serveur mutualisé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12700" algn="ctr">
                      <a:solidFill>
                        <a:srgbClr val="E8EBF4"/>
                      </a:solidFill>
                    </a:lnL>
                    <a:lnR w="12700" algn="ctr">
                      <a:solidFill>
                        <a:srgbClr val="E8EBF4"/>
                      </a:solidFill>
                    </a:lnR>
                    <a:lnT w="12700" algn="ctr">
                      <a:solidFill>
                        <a:srgbClr val="E8EBF4"/>
                      </a:solidFill>
                    </a:lnT>
                    <a:lnB w="12700" algn="ctr">
                      <a:solidFill>
                        <a:srgbClr val="E8EBF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100">
                          <a:solidFill>
                            <a:srgbClr val="2D3748"/>
                          </a:solidFill>
                          <a:latin typeface="Calibri"/>
                          <a:ea typeface="Calibri"/>
                          <a:cs typeface="Calibri"/>
                        </a:rPr>
                        <a:t>~10 CHF/mois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12700" algn="ctr">
                      <a:solidFill>
                        <a:srgbClr val="E8EBF4"/>
                      </a:solidFill>
                    </a:lnL>
                    <a:lnR w="12700" algn="ctr">
                      <a:solidFill>
                        <a:srgbClr val="E8EBF4"/>
                      </a:solidFill>
                    </a:lnR>
                    <a:lnT w="12700" algn="ctr">
                      <a:solidFill>
                        <a:srgbClr val="E8EBF4"/>
                      </a:solidFill>
                    </a:lnT>
                    <a:lnB w="12700" algn="ctr">
                      <a:solidFill>
                        <a:srgbClr val="E8EBF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100">
                          <a:solidFill>
                            <a:srgbClr val="2D3748"/>
                          </a:solidFill>
                          <a:latin typeface="Calibri"/>
                          <a:ea typeface="Calibri"/>
                          <a:cs typeface="Calibri"/>
                        </a:rPr>
                        <a:t>Nom de domaine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12700" algn="ctr">
                      <a:solidFill>
                        <a:srgbClr val="E8EBF4"/>
                      </a:solidFill>
                    </a:lnL>
                    <a:lnR w="12700" algn="ctr">
                      <a:solidFill>
                        <a:srgbClr val="E8EBF4"/>
                      </a:solidFill>
                    </a:lnR>
                    <a:lnT w="12700" algn="ctr">
                      <a:solidFill>
                        <a:srgbClr val="E8EBF4"/>
                      </a:solidFill>
                    </a:lnT>
                    <a:lnB w="12700" algn="ctr">
                      <a:solidFill>
                        <a:srgbClr val="E8EBF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100">
                          <a:solidFill>
                            <a:srgbClr val="2D3748"/>
                          </a:solidFill>
                          <a:latin typeface="Calibri"/>
                          <a:ea typeface="Calibri"/>
                          <a:cs typeface="Calibri"/>
                        </a:rPr>
                        <a:t>.ch enregistrement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12700" algn="ctr">
                      <a:solidFill>
                        <a:srgbClr val="E8EBF4"/>
                      </a:solidFill>
                    </a:lnL>
                    <a:lnR w="12700" algn="ctr">
                      <a:solidFill>
                        <a:srgbClr val="E8EBF4"/>
                      </a:solidFill>
                    </a:lnR>
                    <a:lnT w="12700" algn="ctr">
                      <a:solidFill>
                        <a:srgbClr val="E8EBF4"/>
                      </a:solidFill>
                    </a:lnT>
                    <a:lnB w="12700" algn="ctr">
                      <a:solidFill>
                        <a:srgbClr val="E8EBF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100">
                          <a:solidFill>
                            <a:srgbClr val="2D3748"/>
                          </a:solidFill>
                          <a:latin typeface="Calibri"/>
                          <a:ea typeface="Calibri"/>
                          <a:cs typeface="Calibri"/>
                        </a:rPr>
                        <a:t>~15 CHF/an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12700" algn="ctr">
                      <a:solidFill>
                        <a:srgbClr val="E8EBF4"/>
                      </a:solidFill>
                    </a:lnL>
                    <a:lnR w="12700" algn="ctr">
                      <a:solidFill>
                        <a:srgbClr val="E8EBF4"/>
                      </a:solidFill>
                    </a:lnR>
                    <a:lnT w="12700" algn="ctr">
                      <a:solidFill>
                        <a:srgbClr val="E8EBF4"/>
                      </a:solidFill>
                    </a:lnT>
                    <a:lnB w="12700" algn="ctr">
                      <a:solidFill>
                        <a:srgbClr val="E8EBF4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27751584" name="Shape 3"/>
          <p:cNvSpPr/>
          <p:nvPr/>
        </p:nvSpPr>
        <p:spPr bwMode="auto">
          <a:xfrm>
            <a:off x="5394960" y="1097280"/>
            <a:ext cx="3474720" cy="347472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  <a:effectLst>
            <a:outerShdw blurRad="76200" dist="25400" dir="81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1797293992" name="Text 4"/>
          <p:cNvSpPr/>
          <p:nvPr/>
        </p:nvSpPr>
        <p:spPr bwMode="auto">
          <a:xfrm>
            <a:off x="5486400" y="11887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F5A623"/>
                </a:solidFill>
                <a:latin typeface="Calibri"/>
                <a:ea typeface="Calibri"/>
                <a:cs typeface="Calibri"/>
              </a:rPr>
              <a:t>Estimation budgétaire</a:t>
            </a:r>
            <a:endParaRPr lang="en-US" sz="1300"/>
          </a:p>
        </p:txBody>
      </p:sp>
      <p:sp>
        <p:nvSpPr>
          <p:cNvPr id="1333076564" name="Shape 5"/>
          <p:cNvSpPr/>
          <p:nvPr/>
        </p:nvSpPr>
        <p:spPr bwMode="auto">
          <a:xfrm>
            <a:off x="5486400" y="1645920"/>
            <a:ext cx="3246120" cy="411480"/>
          </a:xfrm>
          <a:prstGeom prst="rect">
            <a:avLst/>
          </a:prstGeom>
          <a:solidFill>
            <a:srgbClr val="243572"/>
          </a:solidFill>
          <a:ln w="12700">
            <a:solidFill>
              <a:srgbClr val="243572"/>
            </a:solidFill>
            <a:prstDash val="solid"/>
          </a:ln>
        </p:spPr>
      </p:sp>
      <p:sp>
        <p:nvSpPr>
          <p:cNvPr id="832199461" name="Text 6"/>
          <p:cNvSpPr/>
          <p:nvPr/>
        </p:nvSpPr>
        <p:spPr bwMode="auto">
          <a:xfrm>
            <a:off x="5532120" y="16459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FFFFFF"/>
                </a:solidFill>
              </a:rPr>
              <a:t>Développement initial</a:t>
            </a:r>
            <a:endParaRPr lang="en-US" sz="1100"/>
          </a:p>
        </p:txBody>
      </p:sp>
      <p:sp>
        <p:nvSpPr>
          <p:cNvPr id="997446871" name="Text 7"/>
          <p:cNvSpPr/>
          <p:nvPr/>
        </p:nvSpPr>
        <p:spPr bwMode="auto">
          <a:xfrm>
            <a:off x="7406640" y="1645920"/>
            <a:ext cx="1234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100" b="1">
                <a:solidFill>
                  <a:srgbClr val="F5A623"/>
                </a:solidFill>
              </a:rPr>
              <a:t>devis</a:t>
            </a:r>
            <a:endParaRPr lang="en-US" sz="1100"/>
          </a:p>
        </p:txBody>
      </p:sp>
      <p:sp>
        <p:nvSpPr>
          <p:cNvPr id="2072054154" name="Shape 8"/>
          <p:cNvSpPr/>
          <p:nvPr/>
        </p:nvSpPr>
        <p:spPr bwMode="auto">
          <a:xfrm>
            <a:off x="5486400" y="2139696"/>
            <a:ext cx="3246120" cy="411480"/>
          </a:xfrm>
          <a:prstGeom prst="rect">
            <a:avLst/>
          </a:prstGeom>
          <a:solidFill>
            <a:srgbClr val="243572"/>
          </a:solidFill>
          <a:ln w="12700">
            <a:solidFill>
              <a:srgbClr val="243572"/>
            </a:solidFill>
            <a:prstDash val="solid"/>
          </a:ln>
        </p:spPr>
      </p:sp>
      <p:sp>
        <p:nvSpPr>
          <p:cNvPr id="1273132562" name="Text 9"/>
          <p:cNvSpPr/>
          <p:nvPr/>
        </p:nvSpPr>
        <p:spPr bwMode="auto">
          <a:xfrm>
            <a:off x="5532120" y="2139696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FFFFFF"/>
                </a:solidFill>
              </a:rPr>
              <a:t>Hébergement annuel</a:t>
            </a:r>
            <a:endParaRPr lang="en-US" sz="1100"/>
          </a:p>
        </p:txBody>
      </p:sp>
      <p:sp>
        <p:nvSpPr>
          <p:cNvPr id="313523490" name="Text 10"/>
          <p:cNvSpPr/>
          <p:nvPr/>
        </p:nvSpPr>
        <p:spPr bwMode="auto">
          <a:xfrm>
            <a:off x="7406640" y="2139696"/>
            <a:ext cx="1234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100" b="1">
                <a:solidFill>
                  <a:srgbClr val="F5A623"/>
                </a:solidFill>
              </a:rPr>
              <a:t>120 CHF</a:t>
            </a:r>
            <a:endParaRPr lang="en-US" sz="1100"/>
          </a:p>
        </p:txBody>
      </p:sp>
      <p:sp>
        <p:nvSpPr>
          <p:cNvPr id="442720497" name="Shape 11"/>
          <p:cNvSpPr/>
          <p:nvPr/>
        </p:nvSpPr>
        <p:spPr bwMode="auto">
          <a:xfrm>
            <a:off x="5486400" y="2633472"/>
            <a:ext cx="3246120" cy="411480"/>
          </a:xfrm>
          <a:prstGeom prst="rect">
            <a:avLst/>
          </a:prstGeom>
          <a:solidFill>
            <a:srgbClr val="243572"/>
          </a:solidFill>
          <a:ln w="12700">
            <a:solidFill>
              <a:srgbClr val="243572"/>
            </a:solidFill>
            <a:prstDash val="solid"/>
          </a:ln>
        </p:spPr>
      </p:sp>
      <p:sp>
        <p:nvSpPr>
          <p:cNvPr id="603037363" name="Text 12"/>
          <p:cNvSpPr/>
          <p:nvPr/>
        </p:nvSpPr>
        <p:spPr bwMode="auto">
          <a:xfrm>
            <a:off x="5532120" y="263347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FFFFFF"/>
                </a:solidFill>
              </a:rPr>
              <a:t>Domaine .ch/an</a:t>
            </a:r>
            <a:endParaRPr lang="en-US" sz="1100"/>
          </a:p>
        </p:txBody>
      </p:sp>
      <p:sp>
        <p:nvSpPr>
          <p:cNvPr id="382021678" name="Text 13"/>
          <p:cNvSpPr/>
          <p:nvPr/>
        </p:nvSpPr>
        <p:spPr bwMode="auto">
          <a:xfrm>
            <a:off x="7406640" y="2633472"/>
            <a:ext cx="1234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100" b="1">
                <a:solidFill>
                  <a:srgbClr val="F5A623"/>
                </a:solidFill>
              </a:rPr>
              <a:t>15 CHF</a:t>
            </a:r>
            <a:endParaRPr lang="en-US" sz="1100"/>
          </a:p>
        </p:txBody>
      </p:sp>
      <p:sp>
        <p:nvSpPr>
          <p:cNvPr id="549618272" name="Shape 14"/>
          <p:cNvSpPr/>
          <p:nvPr/>
        </p:nvSpPr>
        <p:spPr bwMode="auto">
          <a:xfrm>
            <a:off x="5486400" y="3127248"/>
            <a:ext cx="3246120" cy="411480"/>
          </a:xfrm>
          <a:prstGeom prst="rect">
            <a:avLst/>
          </a:prstGeom>
          <a:solidFill>
            <a:srgbClr val="243572"/>
          </a:solidFill>
          <a:ln w="12700">
            <a:solidFill>
              <a:srgbClr val="243572"/>
            </a:solidFill>
            <a:prstDash val="solid"/>
          </a:ln>
        </p:spPr>
      </p:sp>
      <p:sp>
        <p:nvSpPr>
          <p:cNvPr id="1841385936" name="Text 15"/>
          <p:cNvSpPr/>
          <p:nvPr/>
        </p:nvSpPr>
        <p:spPr bwMode="auto">
          <a:xfrm>
            <a:off x="5532120" y="312724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FFFFFF"/>
                </a:solidFill>
              </a:rPr>
              <a:t>Plugins premium</a:t>
            </a:r>
            <a:endParaRPr lang="en-US" sz="1100"/>
          </a:p>
        </p:txBody>
      </p:sp>
      <p:sp>
        <p:nvSpPr>
          <p:cNvPr id="186604752" name="Text 16"/>
          <p:cNvSpPr/>
          <p:nvPr/>
        </p:nvSpPr>
        <p:spPr bwMode="auto">
          <a:xfrm>
            <a:off x="7406640" y="3127248"/>
            <a:ext cx="1234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100" b="1">
                <a:solidFill>
                  <a:srgbClr val="F5A623"/>
                </a:solidFill>
              </a:rPr>
              <a:t>0 CHF</a:t>
            </a:r>
            <a:endParaRPr lang="en-US" sz="1100"/>
          </a:p>
        </p:txBody>
      </p:sp>
      <p:sp>
        <p:nvSpPr>
          <p:cNvPr id="898629770" name="Shape 17"/>
          <p:cNvSpPr/>
          <p:nvPr/>
        </p:nvSpPr>
        <p:spPr bwMode="auto">
          <a:xfrm>
            <a:off x="5486400" y="3621024"/>
            <a:ext cx="3246120" cy="411480"/>
          </a:xfrm>
          <a:prstGeom prst="rect">
            <a:avLst/>
          </a:prstGeom>
          <a:solidFill>
            <a:srgbClr val="243572"/>
          </a:solidFill>
          <a:ln w="12700">
            <a:solidFill>
              <a:srgbClr val="243572"/>
            </a:solidFill>
            <a:prstDash val="solid"/>
          </a:ln>
        </p:spPr>
      </p:sp>
      <p:sp>
        <p:nvSpPr>
          <p:cNvPr id="718934940" name="Text 18"/>
          <p:cNvSpPr/>
          <p:nvPr/>
        </p:nvSpPr>
        <p:spPr bwMode="auto">
          <a:xfrm>
            <a:off x="5532120" y="3621024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FFFFFF"/>
                </a:solidFill>
              </a:rPr>
              <a:t>Maintenance (opt.)</a:t>
            </a:r>
            <a:endParaRPr lang="en-US" sz="1100"/>
          </a:p>
        </p:txBody>
      </p:sp>
      <p:sp>
        <p:nvSpPr>
          <p:cNvPr id="736240072" name="Text 19"/>
          <p:cNvSpPr/>
          <p:nvPr/>
        </p:nvSpPr>
        <p:spPr bwMode="auto">
          <a:xfrm>
            <a:off x="7406640" y="3621024"/>
            <a:ext cx="1234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100" b="1">
                <a:solidFill>
                  <a:srgbClr val="F5A623"/>
                </a:solidFill>
              </a:rPr>
              <a:t>sur demande</a:t>
            </a:r>
            <a:endParaRPr lang="en-US" sz="1100"/>
          </a:p>
        </p:txBody>
      </p:sp>
      <p:sp>
        <p:nvSpPr>
          <p:cNvPr id="1727027192" name="Text 20"/>
          <p:cNvSpPr/>
          <p:nvPr/>
        </p:nvSpPr>
        <p:spPr bwMode="auto">
          <a:xfrm>
            <a:off x="5394960" y="425196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38A169"/>
                </a:solidFill>
              </a:rPr>
              <a:t>Solution 100% légale, open-source</a:t>
            </a:r>
            <a:endParaRPr lang="en-US" sz="1100"/>
          </a:p>
          <a:p>
            <a:pPr marL="0" indent="0" algn="ctr">
              <a:buNone/>
              <a:defRPr/>
            </a:pPr>
            <a:r>
              <a:rPr lang="en-US" sz="1100" b="1">
                <a:solidFill>
                  <a:srgbClr val="38A169"/>
                </a:solidFill>
              </a:rPr>
              <a:t>et conforme RGPD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2">
    <p:bg>
      <p:bgPr shadeToTitle="0">
        <a:solidFill>
          <a:srgbClr val="1A2B5E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4897305" name="Shape 0"/>
          <p:cNvSpPr/>
          <p:nvPr/>
        </p:nvSpPr>
        <p:spPr bwMode="auto">
          <a:xfrm>
            <a:off x="0" y="3931920"/>
            <a:ext cx="9144000" cy="12115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810238597" name="Text 1"/>
          <p:cNvSpPr/>
          <p:nvPr/>
        </p:nvSpPr>
        <p:spPr bwMode="auto">
          <a:xfrm>
            <a:off x="54864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32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Merci pour votre confiance</a:t>
            </a:r>
            <a:endParaRPr lang="en-US" sz="3200"/>
          </a:p>
        </p:txBody>
      </p:sp>
      <p:sp>
        <p:nvSpPr>
          <p:cNvPr id="1561201483" name="Text 2"/>
          <p:cNvSpPr/>
          <p:nvPr/>
        </p:nvSpPr>
        <p:spPr bwMode="auto">
          <a:xfrm>
            <a:off x="548640" y="1463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i="1">
                <a:solidFill>
                  <a:srgbClr val="F5A623"/>
                </a:solidFill>
                <a:latin typeface="Calibri"/>
                <a:ea typeface="Calibri"/>
                <a:cs typeface="Calibri"/>
              </a:rPr>
              <a:t>Un site complet, accessible et économique — prêt pour le lancement !</a:t>
            </a:r>
            <a:endParaRPr lang="en-US" sz="1400"/>
          </a:p>
        </p:txBody>
      </p:sp>
      <p:pic>
        <p:nvPicPr>
          <p:cNvPr id="443811074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57200" y="2103120"/>
            <a:ext cx="256032" cy="256032"/>
          </a:xfrm>
          <a:prstGeom prst="rect">
            <a:avLst/>
          </a:prstGeom>
        </p:spPr>
      </p:pic>
      <p:sp>
        <p:nvSpPr>
          <p:cNvPr id="1541004713" name="Text 3"/>
          <p:cNvSpPr/>
          <p:nvPr/>
        </p:nvSpPr>
        <p:spPr bwMode="auto">
          <a:xfrm>
            <a:off x="804672" y="205740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Boutiques répertoriées avec liens officiels</a:t>
            </a:r>
            <a:endParaRPr lang="en-US" sz="1200"/>
          </a:p>
        </p:txBody>
      </p:sp>
      <p:pic>
        <p:nvPicPr>
          <p:cNvPr id="1037209125" name="Image 1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457200" y="2560320"/>
            <a:ext cx="256032" cy="256032"/>
          </a:xfrm>
          <a:prstGeom prst="rect">
            <a:avLst/>
          </a:prstGeom>
        </p:spPr>
      </p:pic>
      <p:sp>
        <p:nvSpPr>
          <p:cNvPr id="1275386987" name="Text 4"/>
          <p:cNvSpPr/>
          <p:nvPr/>
        </p:nvSpPr>
        <p:spPr bwMode="auto">
          <a:xfrm>
            <a:off x="804672" y="251460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Jeu concours fonctionnel avec gestion des droits</a:t>
            </a:r>
            <a:endParaRPr lang="en-US" sz="1200"/>
          </a:p>
        </p:txBody>
      </p:sp>
      <p:pic>
        <p:nvPicPr>
          <p:cNvPr id="1666818885" name="Image 2" descr="preencoded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457200" y="3017519"/>
            <a:ext cx="256032" cy="256032"/>
          </a:xfrm>
          <a:prstGeom prst="rect">
            <a:avLst/>
          </a:prstGeom>
        </p:spPr>
      </p:pic>
      <p:sp>
        <p:nvSpPr>
          <p:cNvPr id="330794538" name="Text 5"/>
          <p:cNvSpPr/>
          <p:nvPr/>
        </p:nvSpPr>
        <p:spPr bwMode="auto">
          <a:xfrm>
            <a:off x="804672" y="297180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Plan interactif du centre intégré</a:t>
            </a:r>
            <a:endParaRPr lang="en-US" sz="1200"/>
          </a:p>
        </p:txBody>
      </p:sp>
      <p:pic>
        <p:nvPicPr>
          <p:cNvPr id="137935081" name="Image 3" descr="preencoded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457200" y="3474720"/>
            <a:ext cx="256032" cy="256032"/>
          </a:xfrm>
          <a:prstGeom prst="rect">
            <a:avLst/>
          </a:prstGeom>
        </p:spPr>
      </p:pic>
      <p:sp>
        <p:nvSpPr>
          <p:cNvPr id="1952325445" name="Text 6"/>
          <p:cNvSpPr/>
          <p:nvPr/>
        </p:nvSpPr>
        <p:spPr bwMode="auto">
          <a:xfrm>
            <a:off x="804672" y="342900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CMS intuitif pour vos collaborateurs</a:t>
            </a:r>
            <a:endParaRPr lang="en-US" sz="1200"/>
          </a:p>
        </p:txBody>
      </p:sp>
      <p:pic>
        <p:nvPicPr>
          <p:cNvPr id="583539844" name="Image 4" descr="preencoded.png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4846320" y="2103120"/>
            <a:ext cx="256032" cy="256032"/>
          </a:xfrm>
          <a:prstGeom prst="rect">
            <a:avLst/>
          </a:prstGeom>
        </p:spPr>
      </p:pic>
      <p:sp>
        <p:nvSpPr>
          <p:cNvPr id="312151497" name="Text 7"/>
          <p:cNvSpPr/>
          <p:nvPr/>
        </p:nvSpPr>
        <p:spPr bwMode="auto">
          <a:xfrm>
            <a:off x="5193792" y="205740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Suivi du parking en temps réel</a:t>
            </a:r>
            <a:endParaRPr lang="en-US" sz="1200"/>
          </a:p>
        </p:txBody>
      </p:sp>
      <p:pic>
        <p:nvPicPr>
          <p:cNvPr id="1350538810" name="Image 5" descr="preencoded.png"/>
          <p:cNvPicPr>
            <a:picLocks noChangeAspect="1"/>
          </p:cNvPicPr>
          <p:nvPr/>
        </p:nvPicPr>
        <p:blipFill rotWithShape="1">
          <a:blip r:embed="rId8"/>
          <a:stretch/>
        </p:blipFill>
        <p:spPr bwMode="auto">
          <a:xfrm>
            <a:off x="4846320" y="2560320"/>
            <a:ext cx="256032" cy="256032"/>
          </a:xfrm>
          <a:prstGeom prst="rect">
            <a:avLst/>
          </a:prstGeom>
        </p:spPr>
      </p:pic>
      <p:sp>
        <p:nvSpPr>
          <p:cNvPr id="817277937" name="Text 8"/>
          <p:cNvSpPr/>
          <p:nvPr/>
        </p:nvSpPr>
        <p:spPr bwMode="auto">
          <a:xfrm>
            <a:off x="5193792" y="251460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Statistiques journalières, mensuelles et annuelles</a:t>
            </a:r>
            <a:endParaRPr lang="en-US" sz="1200"/>
          </a:p>
        </p:txBody>
      </p:sp>
      <p:pic>
        <p:nvPicPr>
          <p:cNvPr id="521267836" name="Image 6" descr="preencoded.png"/>
          <p:cNvPicPr>
            <a:picLocks noChangeAspect="1"/>
          </p:cNvPicPr>
          <p:nvPr/>
        </p:nvPicPr>
        <p:blipFill rotWithShape="1">
          <a:blip r:embed="rId9"/>
          <a:stretch/>
        </p:blipFill>
        <p:spPr bwMode="auto">
          <a:xfrm>
            <a:off x="4846320" y="3017519"/>
            <a:ext cx="256032" cy="256032"/>
          </a:xfrm>
          <a:prstGeom prst="rect">
            <a:avLst/>
          </a:prstGeom>
        </p:spPr>
      </p:pic>
      <p:sp>
        <p:nvSpPr>
          <p:cNvPr id="515516581" name="Text 9"/>
          <p:cNvSpPr/>
          <p:nvPr/>
        </p:nvSpPr>
        <p:spPr bwMode="auto">
          <a:xfrm>
            <a:off x="5193792" y="297180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Budget maîtrisé — open-source &amp; légal</a:t>
            </a:r>
            <a:endParaRPr lang="en-US" sz="1200"/>
          </a:p>
        </p:txBody>
      </p:sp>
      <p:sp>
        <p:nvSpPr>
          <p:cNvPr id="37987789" name="Text 10"/>
          <p:cNvSpPr/>
          <p:nvPr/>
        </p:nvSpPr>
        <p:spPr bwMode="auto">
          <a:xfrm>
            <a:off x="0" y="39776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1A2B5E"/>
                </a:solidFill>
              </a:rPr>
              <a:t>Des questions ? Nous sommes à votre disposition.</a:t>
            </a:r>
            <a:endParaRPr lang="en-US"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ONLYOFFICE/9.3.1.8</Application>
  <PresentationFormat>On-screen Show (4:3)</PresentationFormat>
  <Paragraphs>0</Paragraphs>
  <Slides>15</Slides>
  <Notes>15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Centre Commercial – Présentation du site web</dc:title>
  <dc:subject>PptxGenJS Presentation</dc:subject>
  <dc:creator>Équipe de développement</dc:creator>
  <cp:keywords/>
  <cp:lastModifiedBy/>
  <cp:revision>2</cp:revision>
  <dcterms:created xsi:type="dcterms:W3CDTF">2026-04-27T15:37:58Z</dcterms:created>
  <dcterms:modified xsi:type="dcterms:W3CDTF">2026-04-27T17:00:41Z</dcterms:modified>
</cp:coreProperties>
</file>